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The audience should understand that the workbench is not another product repo, but the context layer used across product repos.</a:t>
            </a:r>
          </a:p>
          <a:p>
            <a:r>
              <a:t>Pick up the proven visual language: human, assistant, and clear ways of working.</a:t>
            </a:r>
          </a:p>
          <a:p>
            <a:r>
              <a:t>Briefly announce the arc: from prompts, instructions, skills, and agents to a concrete fullstack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Some people may remember this slide. It worked well because it made abstract Copilot concepts tangible.</a:t>
            </a:r>
          </a:p>
          <a:p>
            <a:r>
              <a:t>The extension now is orchestration: not just explaining the four blocks, but making them useful for fullstack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problem clearly: Copilot is not the issue. Unstable context is the issue.</a:t>
            </a:r>
          </a:p>
          <a:p>
            <a:r>
              <a:t>Fullstack teams have a broad context surface: backend, frontend, DB, tests, requirements, and tools.</a:t>
            </a:r>
          </a:p>
          <a:p>
            <a:r>
              <a:t>The workbench is the answer to that context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core usage pattern: clone the repo, open it as a folder in the workspace, then add the project folder next to it.</a:t>
            </a:r>
          </a:p>
          <a:p>
            <a:r>
              <a:t>No need to copy skills into every project.</a:t>
            </a:r>
          </a:p>
          <a:p>
            <a:r>
              <a:t>The workbench is reusable, while the project stays 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what a developer needs to do tomorrow in practical terms.</a:t>
            </a:r>
          </a:p>
          <a:p>
            <a:r>
              <a:t>The entry point is intentionally small: clone, open workspace, choose role.</a:t>
            </a:r>
          </a:p>
          <a:p>
            <a:r>
              <a:t>The difference from normal chat usage is the handoff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explain what is inside the repository.</a:t>
            </a:r>
          </a:p>
          <a:p>
            <a:r>
              <a:t>Agents steer the work, skills provide knowledge, instructions set rules, and prompts start repeatable workflows.</a:t>
            </a:r>
          </a:p>
          <a:p>
            <a:r>
              <a:t>The naming prefixes are intentional because the skill folder needs to be easy to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is the heart of the new optimization.</a:t>
            </a:r>
          </a:p>
          <a:p>
            <a:r>
              <a:t>Handoffs give the developer control: inspect the plan first, then implement, then review.</a:t>
            </a:r>
          </a:p>
          <a:p>
            <a:r>
              <a:t>Hidden agents keep the visible agent list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model strategy as an economic argument.</a:t>
            </a:r>
          </a:p>
          <a:p>
            <a:r>
              <a:t>Expensive models are not avoided. They are used deliberately where they matter.</a:t>
            </a:r>
          </a:p>
          <a:p>
            <a:r>
              <a:t>Important: Copilot can fall back to available models depending on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Tell a concrete scenario: a PBI arrives, but it is not testable yet.</a:t>
            </a:r>
          </a:p>
          <a:p>
            <a:r>
              <a:t>The workbench guides the path from requirements through implementation to test automation.</a:t>
            </a:r>
          </a:p>
          <a:p>
            <a:r>
              <a:t>This is the difference from a loose collection of prompt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safety and governance slide.</a:t>
            </a:r>
          </a:p>
          <a:p>
            <a:r>
              <a:t>The workbench must never override project-internal truth.</a:t>
            </a:r>
          </a:p>
          <a:p>
            <a:r>
              <a:t>MCP and web are sources, not instruction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closes the practical introduction.</a:t>
            </a:r>
          </a:p>
          <a:p>
            <a:r>
              <a:t>Do not sell a large transformation. Start small and learn from real tickets.</a:t>
            </a:r>
          </a:p>
          <a:p>
            <a:r>
              <a:t>After the pilot, the context curator can capture reusable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Bring the audience back to the core message: the workbench makes Copilot usage repeatable.</a:t>
            </a:r>
          </a:p>
          <a:p>
            <a:r>
              <a:t>Concrete call to action: stop debating in the abstract and test a workspace with a real ticket.</a:t>
            </a:r>
          </a:p>
          <a:p>
            <a:r>
              <a:t>Open the floor for questions after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EA89E402-5DC2-458E-B6FA-BBD951222BAC}"/>
              </a:ext>
            </a:extLst>
          </p:cNvPr>
          <p:cNvSpPr>
            <a:spLocks noGrp="1"/>
          </p:cNvSpPr>
          <p:nvPr/>
        </p:nvSpPr>
        <p:spPr>
          <a:xfrm>
            <a:off x="247650" y="2476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2E00D36-C824-4D32-8274-53F341BDD723}"/>
              </a:ext>
            </a:extLst>
          </p:cNvPr>
          <p:cNvSpPr>
            <a:spLocks noGrp="1"/>
          </p:cNvSpPr>
          <p:nvPr/>
        </p:nvSpPr>
        <p:spPr>
          <a:xfrm>
            <a:off x="247650" y="29527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9BFCC5C-AB65-4254-84DD-05F80F202F91}"/>
              </a:ext>
            </a:extLst>
          </p:cNvPr>
          <p:cNvSpPr>
            <a:spLocks noGrp="1"/>
          </p:cNvSpPr>
          <p:nvPr/>
        </p:nvSpPr>
        <p:spPr>
          <a:xfrm>
            <a:off x="904875" y="857250"/>
            <a:ext cx="5619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4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Agentic Fullstack</a:t>
            </a:r>
          </a:p>
          <a:p>
            <a:pPr algn="l">
              <a:defRPr sz="4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Workbench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0FDE9D6-5185-40E0-985A-E54AEFC9ED87}"/>
              </a:ext>
            </a:extLst>
          </p:cNvPr>
          <p:cNvSpPr>
            <a:spLocks noGrp="1"/>
          </p:cNvSpPr>
          <p:nvPr/>
        </p:nvSpPr>
        <p:spPr>
          <a:xfrm>
            <a:off x="933450" y="2381250"/>
            <a:ext cx="533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reusable development workspace for Copilot, VS Code, and fullstack teams.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7D63C128-F8B9-45FA-A468-B68FF967FA33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B127247-C8E1-451C-86CE-5A2FB6984EDE}"/>
              </a:ext>
            </a:extLst>
          </p:cNvPr>
          <p:cNvSpPr>
            <a:spLocks noGrp="1"/>
          </p:cNvSpPr>
          <p:nvPr/>
        </p:nvSpPr>
        <p:spPr>
          <a:xfrm>
            <a:off x="1276350" y="3495675"/>
            <a:ext cx="5010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Relevant tomorrow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7654475-44D7-4F4E-A935-13187E9C5D73}"/>
              </a:ext>
            </a:extLst>
          </p:cNvPr>
          <p:cNvSpPr>
            <a:spLocks noGrp="1"/>
          </p:cNvSpPr>
          <p:nvPr/>
        </p:nvSpPr>
        <p:spPr>
          <a:xfrm>
            <a:off x="1276350" y="3781425"/>
            <a:ext cx="5010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Developers clone the workbench, add their project, and work with guided roles instead of prompt guesswork.</a:t>
            </a:r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3"/>
          <a:srcRect l="1224" r="1224"/>
          <a:stretch>
            <a:fillRect/>
          </a:stretch>
        </p:blipFill>
        <p:spPr>
          <a:xfrm>
            <a:off x="6572250" y="1257300"/>
            <a:ext cx="4953000" cy="2857500"/>
          </a:xfrm>
          <a:prstGeom prst="roundRect">
            <a:avLst>
              <a:gd name="adj" fmla="val 4000"/>
            </a:avLst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4AD733E6-3246-436E-B31B-3ECF1FD741D3}"/>
              </a:ext>
            </a:extLst>
          </p:cNvPr>
          <p:cNvSpPr>
            <a:spLocks noGrp="1"/>
          </p:cNvSpPr>
          <p:nvPr/>
        </p:nvSpPr>
        <p:spPr>
          <a:xfrm>
            <a:off x="838200" y="5876925"/>
            <a:ext cx="657225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776D5C2-24B6-4E14-B983-6C42E7EEE0D7}"/>
              </a:ext>
            </a:extLst>
          </p:cNvPr>
          <p:cNvSpPr>
            <a:spLocks noGrp="1"/>
          </p:cNvSpPr>
          <p:nvPr/>
        </p:nvSpPr>
        <p:spPr>
          <a:xfrm>
            <a:off x="1066800" y="6000750"/>
            <a:ext cx="609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30 minutes: understand the idea, open the workspace,</a:t>
            </a:r>
          </a:p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try the first handoff.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1805183-C155-4437-9C38-CF1A66FAADE3}"/>
              </a:ext>
            </a:extLst>
          </p:cNvPr>
          <p:cNvSpPr>
            <a:spLocks noGrp="1"/>
          </p:cNvSpPr>
          <p:nvPr/>
        </p:nvSpPr>
        <p:spPr>
          <a:xfrm>
            <a:off x="889635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agentic-fullstack-workbench</a:t>
            </a:r>
          </a:p>
        </p:txBody>
      </p:sp>
    </p:spTree>
    <p:extLst>
      <p:ext uri="{BB962C8B-B14F-4D97-AF65-F5344CB8AC3E}">
        <p14:creationId xmlns:p14="http://schemas.microsoft.com/office/powerpoint/2010/main" val="1450345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46DD8FF-1CEE-4D6C-88E0-1706317B8666}"/>
              </a:ext>
            </a:extLst>
          </p:cNvPr>
          <p:cNvSpPr>
            <a:spLocks noGrp="1"/>
          </p:cNvSpPr>
          <p:nvPr/>
        </p:nvSpPr>
        <p:spPr>
          <a:xfrm>
            <a:off x="247650" y="2476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B305974-FB08-4953-A99B-37129533EE6E}"/>
              </a:ext>
            </a:extLst>
          </p:cNvPr>
          <p:cNvSpPr>
            <a:spLocks noGrp="1"/>
          </p:cNvSpPr>
          <p:nvPr/>
        </p:nvSpPr>
        <p:spPr>
          <a:xfrm>
            <a:off x="247650" y="29527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04DC634F-2F40-4CA4-A45A-D3D2B6651449}"/>
              </a:ext>
            </a:extLst>
          </p:cNvPr>
          <p:cNvSpPr>
            <a:spLocks noGrp="1"/>
          </p:cNvSpPr>
          <p:nvPr/>
        </p:nvSpPr>
        <p:spPr>
          <a:xfrm>
            <a:off x="952500" y="266700"/>
            <a:ext cx="8667750" cy="476250"/>
          </a:xfrm>
          <a:prstGeom prst="roundRect">
            <a:avLst>
              <a:gd name="adj" fmla="val 1600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B21EAE2-3BFF-4DFF-AA50-A740B2CAE472}"/>
              </a:ext>
            </a:extLst>
          </p:cNvPr>
          <p:cNvSpPr>
            <a:spLocks noGrp="1"/>
          </p:cNvSpPr>
          <p:nvPr/>
        </p:nvSpPr>
        <p:spPr>
          <a:xfrm>
            <a:off x="1143000" y="361950"/>
            <a:ext cx="828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FAMILIAR MODEL STAYS THE FOUNDATION</a:t>
            </a: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952500"/>
            <a:ext cx="7715250" cy="5143500"/>
          </a:xfrm>
          <a:prstGeom prst="roundRect">
            <a:avLst>
              <a:gd name="adj" fmla="val 2222"/>
            </a:avLst>
          </a:prstGeom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C5E3617E-39B3-41C1-96B8-EC1A285DA28F}"/>
              </a:ext>
            </a:extLst>
          </p:cNvPr>
          <p:cNvSpPr>
            <a:spLocks noGrp="1"/>
          </p:cNvSpPr>
          <p:nvPr/>
        </p:nvSpPr>
        <p:spPr>
          <a:xfrm>
            <a:off x="2266950" y="6210300"/>
            <a:ext cx="7667625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05A5807-20CB-42CE-A555-E63D6D360A57}"/>
              </a:ext>
            </a:extLst>
          </p:cNvPr>
          <p:cNvSpPr>
            <a:spLocks noGrp="1"/>
          </p:cNvSpPr>
          <p:nvPr/>
        </p:nvSpPr>
        <p:spPr>
          <a:xfrm>
            <a:off x="2457450" y="6249183"/>
            <a:ext cx="7286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Prompt + Instructions + Skills + Agents stay the four building blocks. The workbench turns them into a workflow.</a:t>
            </a:r>
          </a:p>
        </p:txBody>
      </p:sp>
    </p:spTree>
    <p:extLst>
      <p:ext uri="{BB962C8B-B14F-4D97-AF65-F5344CB8AC3E}">
        <p14:creationId xmlns:p14="http://schemas.microsoft.com/office/powerpoint/2010/main" val="247626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CCF6B6A4-0CBA-431C-90B2-A9A78BB05D97}"/>
              </a:ext>
            </a:extLst>
          </p:cNvPr>
          <p:cNvSpPr>
            <a:spLocks noGrp="1"/>
          </p:cNvSpPr>
          <p:nvPr/>
        </p:nvSpPr>
        <p:spPr>
          <a:xfrm>
            <a:off x="247650" y="2476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61F9536-D112-43C9-B9B8-0F6B90E11920}"/>
              </a:ext>
            </a:extLst>
          </p:cNvPr>
          <p:cNvSpPr>
            <a:spLocks noGrp="1"/>
          </p:cNvSpPr>
          <p:nvPr/>
        </p:nvSpPr>
        <p:spPr>
          <a:xfrm>
            <a:off x="247650" y="29527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4F4DAFFE-B6D8-4AD9-AF28-E4AB623E509A}"/>
              </a:ext>
            </a:extLst>
          </p:cNvPr>
          <p:cNvSpPr>
            <a:spLocks noGrp="1"/>
          </p:cNvSpPr>
          <p:nvPr/>
        </p:nvSpPr>
        <p:spPr>
          <a:xfrm>
            <a:off x="952500" y="266700"/>
            <a:ext cx="8667750" cy="476250"/>
          </a:xfrm>
          <a:prstGeom prst="roundRect">
            <a:avLst>
              <a:gd name="adj" fmla="val 1600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7A3FC5D-B7FD-4697-97B9-B954539B245E}"/>
              </a:ext>
            </a:extLst>
          </p:cNvPr>
          <p:cNvSpPr>
            <a:spLocks noGrp="1"/>
          </p:cNvSpPr>
          <p:nvPr/>
        </p:nvSpPr>
        <p:spPr>
          <a:xfrm>
            <a:off x="1143000" y="361950"/>
            <a:ext cx="828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COPILOT NEEDS STABLE CONTEXT</a:t>
            </a:r>
          </a:p>
        </p:txBody>
      </p:sp>
      <p:pic>
        <p:nvPicPr>
          <p:cNvPr id="21" name="Grafik 20"/>
          <p:cNvPicPr>
            <a:picLocks noChangeAspect="1"/>
          </p:cNvPicPr>
          <p:nvPr/>
        </p:nvPicPr>
        <p:blipFill>
          <a:blip r:embed="rId3"/>
          <a:srcRect l="11377" r="11377"/>
          <a:stretch>
            <a:fillRect/>
          </a:stretch>
        </p:blipFill>
        <p:spPr>
          <a:xfrm>
            <a:off x="685800" y="1562100"/>
            <a:ext cx="3333750" cy="2428875"/>
          </a:xfrm>
          <a:prstGeom prst="roundRect">
            <a:avLst>
              <a:gd name="adj" fmla="val 4706"/>
            </a:avLst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E9B616BE-9E4F-4741-8F1C-D42D168CA985}"/>
              </a:ext>
            </a:extLst>
          </p:cNvPr>
          <p:cNvSpPr>
            <a:spLocks noGrp="1"/>
          </p:cNvSpPr>
          <p:nvPr/>
        </p:nvSpPr>
        <p:spPr>
          <a:xfrm>
            <a:off x="4476750" y="1162050"/>
            <a:ext cx="6191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Without shared context, every session starts from scratch.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9E56E30-8441-4A89-9529-4F128C377369}"/>
              </a:ext>
            </a:extLst>
          </p:cNvPr>
          <p:cNvSpPr>
            <a:spLocks noGrp="1"/>
          </p:cNvSpPr>
          <p:nvPr/>
        </p:nvSpPr>
        <p:spPr>
          <a:xfrm>
            <a:off x="4476750" y="2266950"/>
            <a:ext cx="61912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387AF5B-BD32-4D6E-8674-2DBA66B624EA}"/>
              </a:ext>
            </a:extLst>
          </p:cNvPr>
          <p:cNvSpPr>
            <a:spLocks noGrp="1"/>
          </p:cNvSpPr>
          <p:nvPr/>
        </p:nvSpPr>
        <p:spPr>
          <a:xfrm>
            <a:off x="4724400" y="24193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Knowledge is scattered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24E8E5E-669B-40DB-8058-720E01F11DB3}"/>
              </a:ext>
            </a:extLst>
          </p:cNvPr>
          <p:cNvSpPr>
            <a:spLocks noGrp="1"/>
          </p:cNvSpPr>
          <p:nvPr/>
        </p:nvSpPr>
        <p:spPr>
          <a:xfrm>
            <a:off x="4724400" y="2695575"/>
            <a:ext cx="547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Team rules, tech stack, project patterns, and tooling live in heads, wikis, and old chats.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C79B9E90-FE55-4C7E-86DD-B64A191588D3}"/>
              </a:ext>
            </a:extLst>
          </p:cNvPr>
          <p:cNvSpPr>
            <a:spLocks noGrp="1"/>
          </p:cNvSpPr>
          <p:nvPr/>
        </p:nvSpPr>
        <p:spPr>
          <a:xfrm>
            <a:off x="4476750" y="3371850"/>
            <a:ext cx="61912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B1173FA-E79F-4240-A3DD-E3464952752C}"/>
              </a:ext>
            </a:extLst>
          </p:cNvPr>
          <p:cNvSpPr>
            <a:spLocks noGrp="1"/>
          </p:cNvSpPr>
          <p:nvPr/>
        </p:nvSpPr>
        <p:spPr>
          <a:xfrm>
            <a:off x="4724400" y="35242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Prompts are temporary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BBC13D1-CD60-408F-B355-352F2A25A6C7}"/>
              </a:ext>
            </a:extLst>
          </p:cNvPr>
          <p:cNvSpPr>
            <a:spLocks noGrp="1"/>
          </p:cNvSpPr>
          <p:nvPr/>
        </p:nvSpPr>
        <p:spPr>
          <a:xfrm>
            <a:off x="4724400" y="3800475"/>
            <a:ext cx="547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 good instruction helps once. After that, it has to be remembered or rewritten.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7BBB0AC0-3085-4DDF-9904-D51C395EA8AC}"/>
              </a:ext>
            </a:extLst>
          </p:cNvPr>
          <p:cNvSpPr>
            <a:spLocks noGrp="1"/>
          </p:cNvSpPr>
          <p:nvPr/>
        </p:nvSpPr>
        <p:spPr>
          <a:xfrm>
            <a:off x="4476750" y="4476750"/>
            <a:ext cx="61912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06EDF15-DC31-4C99-B5F6-34237F123C04}"/>
              </a:ext>
            </a:extLst>
          </p:cNvPr>
          <p:cNvSpPr>
            <a:spLocks noGrp="1"/>
          </p:cNvSpPr>
          <p:nvPr/>
        </p:nvSpPr>
        <p:spPr>
          <a:xfrm>
            <a:off x="4724400" y="46291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Quality becomes random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5083DD8-CBC6-43B4-BF0A-5ED2EA1A6725}"/>
              </a:ext>
            </a:extLst>
          </p:cNvPr>
          <p:cNvSpPr>
            <a:spLocks noGrp="1"/>
          </p:cNvSpPr>
          <p:nvPr/>
        </p:nvSpPr>
        <p:spPr>
          <a:xfrm>
            <a:off x="4724400" y="4905375"/>
            <a:ext cx="547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Without guided review, tests, and tool boundaries, output quality varies too much.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E13F657-B92B-46F9-B3D2-F23BC12EC0E7}"/>
              </a:ext>
            </a:extLst>
          </p:cNvPr>
          <p:cNvSpPr>
            <a:spLocks noGrp="1"/>
          </p:cNvSpPr>
          <p:nvPr/>
        </p:nvSpPr>
        <p:spPr>
          <a:xfrm>
            <a:off x="889635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agentic-fullstack-workbench</a:t>
            </a:r>
          </a:p>
        </p:txBody>
      </p:sp>
    </p:spTree>
    <p:extLst>
      <p:ext uri="{BB962C8B-B14F-4D97-AF65-F5344CB8AC3E}">
        <p14:creationId xmlns:p14="http://schemas.microsoft.com/office/powerpoint/2010/main" val="1288750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96101790-FE54-40EB-AADF-C9B64C654A38}"/>
              </a:ext>
            </a:extLst>
          </p:cNvPr>
          <p:cNvSpPr>
            <a:spLocks noGrp="1"/>
          </p:cNvSpPr>
          <p:nvPr/>
        </p:nvSpPr>
        <p:spPr>
          <a:xfrm>
            <a:off x="247650" y="2476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3719CF8-AE2B-49FF-B9F5-3C22039B66C3}"/>
              </a:ext>
            </a:extLst>
          </p:cNvPr>
          <p:cNvSpPr>
            <a:spLocks noGrp="1"/>
          </p:cNvSpPr>
          <p:nvPr/>
        </p:nvSpPr>
        <p:spPr>
          <a:xfrm>
            <a:off x="247650" y="29527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D686D602-A090-46C4-94B1-AC7292C71B79}"/>
              </a:ext>
            </a:extLst>
          </p:cNvPr>
          <p:cNvSpPr>
            <a:spLocks noGrp="1"/>
          </p:cNvSpPr>
          <p:nvPr/>
        </p:nvSpPr>
        <p:spPr>
          <a:xfrm>
            <a:off x="952500" y="266700"/>
            <a:ext cx="8667750" cy="476250"/>
          </a:xfrm>
          <a:prstGeom prst="roundRect">
            <a:avLst>
              <a:gd name="adj" fmla="val 1600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67B5B4A-647E-488A-90FA-74CFD5B4E6E2}"/>
              </a:ext>
            </a:extLst>
          </p:cNvPr>
          <p:cNvSpPr>
            <a:spLocks noGrp="1"/>
          </p:cNvSpPr>
          <p:nvPr/>
        </p:nvSpPr>
        <p:spPr>
          <a:xfrm>
            <a:off x="1143000" y="361950"/>
            <a:ext cx="828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WORKBENCH SITS NEXT TO THE PROJECT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FD1D08B-53B5-4499-9C06-7C679FDA1FA1}"/>
              </a:ext>
            </a:extLst>
          </p:cNvPr>
          <p:cNvSpPr>
            <a:spLocks noGrp="1"/>
          </p:cNvSpPr>
          <p:nvPr/>
        </p:nvSpPr>
        <p:spPr>
          <a:xfrm>
            <a:off x="876300" y="11430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Developers open two folders in the same VS Code workspace.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BFCE6674-FA93-432D-BE9E-510C4114BC88}"/>
              </a:ext>
            </a:extLst>
          </p:cNvPr>
          <p:cNvSpPr>
            <a:spLocks noGrp="1"/>
          </p:cNvSpPr>
          <p:nvPr/>
        </p:nvSpPr>
        <p:spPr>
          <a:xfrm>
            <a:off x="904875" y="2000250"/>
            <a:ext cx="457200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00AC714F-4C7F-41D3-A7E1-E319E6A3D637}"/>
              </a:ext>
            </a:extLst>
          </p:cNvPr>
          <p:cNvSpPr>
            <a:spLocks noGrp="1"/>
          </p:cNvSpPr>
          <p:nvPr/>
        </p:nvSpPr>
        <p:spPr>
          <a:xfrm>
            <a:off x="6715125" y="2000250"/>
            <a:ext cx="457200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7E76E0D-D2A4-41C7-8B0B-08525A606103}"/>
              </a:ext>
            </a:extLst>
          </p:cNvPr>
          <p:cNvSpPr>
            <a:spLocks noGrp="1"/>
          </p:cNvSpPr>
          <p:nvPr/>
        </p:nvSpPr>
        <p:spPr>
          <a:xfrm>
            <a:off x="1238250" y="23431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87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agentic-fullstack-workbench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01C1537-795F-4D0E-A552-36B905192754}"/>
              </a:ext>
            </a:extLst>
          </p:cNvPr>
          <p:cNvSpPr>
            <a:spLocks noGrp="1"/>
          </p:cNvSpPr>
          <p:nvPr/>
        </p:nvSpPr>
        <p:spPr>
          <a:xfrm>
            <a:off x="1571625" y="2952750"/>
            <a:ext cx="3143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Agents</a:t>
            </a:r>
          </a:p>
          <a:p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Skills</a:t>
            </a:r>
          </a:p>
          <a:p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Instructions</a:t>
            </a:r>
          </a:p>
          <a:p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Prompts</a:t>
            </a:r>
          </a:p>
          <a:p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MCP configuration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5CD3C2F-CA8F-4BB4-9EA7-361AF06A0CB7}"/>
              </a:ext>
            </a:extLst>
          </p:cNvPr>
          <p:cNvSpPr>
            <a:spLocks noGrp="1"/>
          </p:cNvSpPr>
          <p:nvPr/>
        </p:nvSpPr>
        <p:spPr>
          <a:xfrm>
            <a:off x="7048500" y="23431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87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your-project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A0D5F71-A9FA-4DF9-B323-09DA9AA1F3C6}"/>
              </a:ext>
            </a:extLst>
          </p:cNvPr>
          <p:cNvSpPr>
            <a:spLocks noGrp="1"/>
          </p:cNvSpPr>
          <p:nvPr/>
        </p:nvSpPr>
        <p:spPr>
          <a:xfrm>
            <a:off x="7381875" y="2952750"/>
            <a:ext cx="3143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Code</a:t>
            </a:r>
          </a:p>
          <a:p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Tests</a:t>
            </a:r>
          </a:p>
          <a:p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Schemas</a:t>
            </a:r>
          </a:p>
          <a:p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Pipelines</a:t>
            </a:r>
          </a:p>
          <a:p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rules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FEE563A-F7AB-463F-825C-240A1BDBC0B2}"/>
              </a:ext>
            </a:extLst>
          </p:cNvPr>
          <p:cNvSpPr>
            <a:spLocks noGrp="1"/>
          </p:cNvSpPr>
          <p:nvPr/>
        </p:nvSpPr>
        <p:spPr>
          <a:xfrm>
            <a:off x="5810250" y="2857500"/>
            <a:ext cx="57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5100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8D0718CE-B7A5-4DE4-B5BB-7033312CF481}"/>
              </a:ext>
            </a:extLst>
          </p:cNvPr>
          <p:cNvSpPr>
            <a:spLocks noGrp="1"/>
          </p:cNvSpPr>
          <p:nvPr/>
        </p:nvSpPr>
        <p:spPr>
          <a:xfrm>
            <a:off x="2047875" y="5238750"/>
            <a:ext cx="80962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E7DA514-DD14-435F-83BF-DB6FED9A3118}"/>
              </a:ext>
            </a:extLst>
          </p:cNvPr>
          <p:cNvSpPr>
            <a:spLocks noGrp="1"/>
          </p:cNvSpPr>
          <p:nvPr/>
        </p:nvSpPr>
        <p:spPr>
          <a:xfrm>
            <a:off x="2381250" y="541020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workbench provides shared context. The project remains the source of truth.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D24B21E-7953-488F-872E-7E6368BF2BCA}"/>
              </a:ext>
            </a:extLst>
          </p:cNvPr>
          <p:cNvSpPr>
            <a:spLocks noGrp="1"/>
          </p:cNvSpPr>
          <p:nvPr/>
        </p:nvSpPr>
        <p:spPr>
          <a:xfrm>
            <a:off x="889635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agentic-fullstack-workbench</a:t>
            </a:r>
          </a:p>
        </p:txBody>
      </p:sp>
    </p:spTree>
    <p:extLst>
      <p:ext uri="{BB962C8B-B14F-4D97-AF65-F5344CB8AC3E}">
        <p14:creationId xmlns:p14="http://schemas.microsoft.com/office/powerpoint/2010/main" val="1552546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E4C5DBE8-1414-4EE9-B32F-05DAA9C944F4}"/>
              </a:ext>
            </a:extLst>
          </p:cNvPr>
          <p:cNvSpPr>
            <a:spLocks noGrp="1"/>
          </p:cNvSpPr>
          <p:nvPr/>
        </p:nvSpPr>
        <p:spPr>
          <a:xfrm>
            <a:off x="247650" y="2476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49F4270-3F43-4057-AAE7-1D21204D4E5A}"/>
              </a:ext>
            </a:extLst>
          </p:cNvPr>
          <p:cNvSpPr>
            <a:spLocks noGrp="1"/>
          </p:cNvSpPr>
          <p:nvPr/>
        </p:nvSpPr>
        <p:spPr>
          <a:xfrm>
            <a:off x="247650" y="29527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51B7E399-F0E1-459E-8788-F86721BF3A2A}"/>
              </a:ext>
            </a:extLst>
          </p:cNvPr>
          <p:cNvSpPr>
            <a:spLocks noGrp="1"/>
          </p:cNvSpPr>
          <p:nvPr/>
        </p:nvSpPr>
        <p:spPr>
          <a:xfrm>
            <a:off x="952500" y="266700"/>
            <a:ext cx="8667750" cy="476250"/>
          </a:xfrm>
          <a:prstGeom prst="roundRect">
            <a:avLst>
              <a:gd name="adj" fmla="val 1600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78DF18C-EBDE-4FF4-AC58-0BFA6A76357B}"/>
              </a:ext>
            </a:extLst>
          </p:cNvPr>
          <p:cNvSpPr>
            <a:spLocks noGrp="1"/>
          </p:cNvSpPr>
          <p:nvPr/>
        </p:nvSpPr>
        <p:spPr>
          <a:xfrm>
            <a:off x="1143000" y="361950"/>
            <a:ext cx="828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A DEVELOPER GETS STARTED</a:t>
            </a:r>
          </a:p>
        </p:txBody>
      </p:sp>
      <p:pic>
        <p:nvPicPr>
          <p:cNvPr id="33" name="Grafik 32"/>
          <p:cNvPicPr>
            <a:picLocks noChangeAspect="1"/>
          </p:cNvPicPr>
          <p:nvPr/>
        </p:nvPicPr>
        <p:blipFill>
          <a:blip r:embed="rId3"/>
          <a:srcRect l="4273" r="4273"/>
          <a:stretch>
            <a:fillRect/>
          </a:stretch>
        </p:blipFill>
        <p:spPr>
          <a:xfrm>
            <a:off x="7524750" y="1162050"/>
            <a:ext cx="3714750" cy="2286000"/>
          </a:xfrm>
          <a:prstGeom prst="roundRect">
            <a:avLst>
              <a:gd name="adj" fmla="val 5000"/>
            </a:avLst>
          </a:prstGeom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820D1930-142D-46C2-8F09-E13D7BB7BB1F}"/>
              </a:ext>
            </a:extLst>
          </p:cNvPr>
          <p:cNvSpPr>
            <a:spLocks noGrp="1"/>
          </p:cNvSpPr>
          <p:nvPr/>
        </p:nvSpPr>
        <p:spPr>
          <a:xfrm>
            <a:off x="876300" y="1162050"/>
            <a:ext cx="619125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CBE6DE6D-708C-438F-84B0-E8F5786A8E32}"/>
              </a:ext>
            </a:extLst>
          </p:cNvPr>
          <p:cNvSpPr>
            <a:spLocks noGrp="1"/>
          </p:cNvSpPr>
          <p:nvPr/>
        </p:nvSpPr>
        <p:spPr>
          <a:xfrm>
            <a:off x="1066800" y="134302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90F5F1B-416E-4467-A257-249D6D111B27}"/>
              </a:ext>
            </a:extLst>
          </p:cNvPr>
          <p:cNvSpPr>
            <a:spLocks noGrp="1"/>
          </p:cNvSpPr>
          <p:nvPr/>
        </p:nvSpPr>
        <p:spPr>
          <a:xfrm>
            <a:off x="1066800" y="1419225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287CCCF-1336-402D-BDD1-2A921032A8CB}"/>
              </a:ext>
            </a:extLst>
          </p:cNvPr>
          <p:cNvSpPr>
            <a:spLocks noGrp="1"/>
          </p:cNvSpPr>
          <p:nvPr/>
        </p:nvSpPr>
        <p:spPr>
          <a:xfrm>
            <a:off x="1752600" y="1333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Clone the workbench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A2E821A-A1B6-42C6-8BFE-AB217DEA613D}"/>
              </a:ext>
            </a:extLst>
          </p:cNvPr>
          <p:cNvSpPr>
            <a:spLocks noGrp="1"/>
          </p:cNvSpPr>
          <p:nvPr/>
        </p:nvSpPr>
        <p:spPr>
          <a:xfrm>
            <a:off x="1752600" y="16383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Place it once under C:\Repos or a team-standard path.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C4CE5DD4-A9CD-4C5F-AE07-65A9E2EA3647}"/>
              </a:ext>
            </a:extLst>
          </p:cNvPr>
          <p:cNvSpPr>
            <a:spLocks noGrp="1"/>
          </p:cNvSpPr>
          <p:nvPr/>
        </p:nvSpPr>
        <p:spPr>
          <a:xfrm>
            <a:off x="876300" y="2286000"/>
            <a:ext cx="619125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F46491E3-086F-48A3-9818-8E51E0FD55AC}"/>
              </a:ext>
            </a:extLst>
          </p:cNvPr>
          <p:cNvSpPr>
            <a:spLocks noGrp="1"/>
          </p:cNvSpPr>
          <p:nvPr/>
        </p:nvSpPr>
        <p:spPr>
          <a:xfrm>
            <a:off x="1066800" y="24669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8AEE43A-0C94-4D38-89F7-72239470D460}"/>
              </a:ext>
            </a:extLst>
          </p:cNvPr>
          <p:cNvSpPr>
            <a:spLocks noGrp="1"/>
          </p:cNvSpPr>
          <p:nvPr/>
        </p:nvSpPr>
        <p:spPr>
          <a:xfrm>
            <a:off x="1066800" y="2543175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3AACA8E-59AE-45FD-8117-3EF65044198C}"/>
              </a:ext>
            </a:extLst>
          </p:cNvPr>
          <p:cNvSpPr>
            <a:spLocks noGrp="1"/>
          </p:cNvSpPr>
          <p:nvPr/>
        </p:nvSpPr>
        <p:spPr>
          <a:xfrm>
            <a:off x="1752600" y="2457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 a workspace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9E51E84-1C8E-4C3F-A143-B60085E7155D}"/>
              </a:ext>
            </a:extLst>
          </p:cNvPr>
          <p:cNvSpPr>
            <a:spLocks noGrp="1"/>
          </p:cNvSpPr>
          <p:nvPr/>
        </p:nvSpPr>
        <p:spPr>
          <a:xfrm>
            <a:off x="1752600" y="27622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Combine workbench and project with Add Folder to Workspace.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DD20784B-3108-4B8B-9023-F37DF678FA01}"/>
              </a:ext>
            </a:extLst>
          </p:cNvPr>
          <p:cNvSpPr>
            <a:spLocks noGrp="1"/>
          </p:cNvSpPr>
          <p:nvPr/>
        </p:nvSpPr>
        <p:spPr>
          <a:xfrm>
            <a:off x="876300" y="3409950"/>
            <a:ext cx="619125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ADB6B1FB-17D4-4E5A-BC30-18BF30E4861F}"/>
              </a:ext>
            </a:extLst>
          </p:cNvPr>
          <p:cNvSpPr>
            <a:spLocks noGrp="1"/>
          </p:cNvSpPr>
          <p:nvPr/>
        </p:nvSpPr>
        <p:spPr>
          <a:xfrm>
            <a:off x="1066800" y="359092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4A27E01-9EB0-40BE-964B-ADFB2D3A8461}"/>
              </a:ext>
            </a:extLst>
          </p:cNvPr>
          <p:cNvSpPr>
            <a:spLocks noGrp="1"/>
          </p:cNvSpPr>
          <p:nvPr/>
        </p:nvSpPr>
        <p:spPr>
          <a:xfrm>
            <a:off x="1066800" y="3667125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E6FF82B-87AA-490F-ACB3-C59A7BF2701F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Choose a role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00914E6-2CD8-4D31-809A-19A4F3538A58}"/>
              </a:ext>
            </a:extLst>
          </p:cNvPr>
          <p:cNvSpPr>
            <a:spLocks noGrp="1"/>
          </p:cNvSpPr>
          <p:nvPr/>
        </p:nvSpPr>
        <p:spPr>
          <a:xfrm>
            <a:off x="1752600" y="38862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For example Frontend Team, Backend, Requirements Engineer, or Test Automation.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8E7A691E-D9F7-410A-A26A-07B886D2A351}"/>
              </a:ext>
            </a:extLst>
          </p:cNvPr>
          <p:cNvSpPr>
            <a:spLocks noGrp="1"/>
          </p:cNvSpPr>
          <p:nvPr/>
        </p:nvSpPr>
        <p:spPr>
          <a:xfrm>
            <a:off x="876300" y="4533900"/>
            <a:ext cx="619125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B46517F1-4DB5-439D-8A98-48407754DFAC}"/>
              </a:ext>
            </a:extLst>
          </p:cNvPr>
          <p:cNvSpPr>
            <a:spLocks noGrp="1"/>
          </p:cNvSpPr>
          <p:nvPr/>
        </p:nvSpPr>
        <p:spPr>
          <a:xfrm>
            <a:off x="1066800" y="47148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78F74C4-1A73-4324-9CA3-0270A26D147E}"/>
              </a:ext>
            </a:extLst>
          </p:cNvPr>
          <p:cNvSpPr>
            <a:spLocks noGrp="1"/>
          </p:cNvSpPr>
          <p:nvPr/>
        </p:nvSpPr>
        <p:spPr>
          <a:xfrm>
            <a:off x="1066800" y="4791075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93EF761-5986-4640-B7C7-59C2A0D55B1E}"/>
              </a:ext>
            </a:extLst>
          </p:cNvPr>
          <p:cNvSpPr>
            <a:spLocks noGrp="1"/>
          </p:cNvSpPr>
          <p:nvPr/>
        </p:nvSpPr>
        <p:spPr>
          <a:xfrm>
            <a:off x="1752600" y="47053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a handoff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B7A9154-1084-416E-A1FE-0329DFCF718A}"/>
              </a:ext>
            </a:extLst>
          </p:cNvPr>
          <p:cNvSpPr>
            <a:spLocks noGrp="1"/>
          </p:cNvSpPr>
          <p:nvPr/>
        </p:nvSpPr>
        <p:spPr>
          <a:xfrm>
            <a:off x="1752600" y="50101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Run analysis, implementation, review, and validation as guided phases.</a:t>
            </a: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7616B8CB-BFE5-4EBF-B9FE-63F3EE967953}"/>
              </a:ext>
            </a:extLst>
          </p:cNvPr>
          <p:cNvSpPr>
            <a:spLocks noGrp="1"/>
          </p:cNvSpPr>
          <p:nvPr/>
        </p:nvSpPr>
        <p:spPr>
          <a:xfrm>
            <a:off x="7648575" y="4800600"/>
            <a:ext cx="360045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0A127DC-EF02-4BB5-B687-6FE1F40DCEC8}"/>
              </a:ext>
            </a:extLst>
          </p:cNvPr>
          <p:cNvSpPr>
            <a:spLocks noGrp="1"/>
          </p:cNvSpPr>
          <p:nvPr/>
        </p:nvSpPr>
        <p:spPr>
          <a:xfrm>
            <a:off x="7905750" y="4847312"/>
            <a:ext cx="3086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Rule of thumb: do not prompt everything. Choose the right agent first.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6AE8F0C-D0FF-4652-BBD9-602D1EE31F3D}"/>
              </a:ext>
            </a:extLst>
          </p:cNvPr>
          <p:cNvSpPr>
            <a:spLocks noGrp="1"/>
          </p:cNvSpPr>
          <p:nvPr/>
        </p:nvSpPr>
        <p:spPr>
          <a:xfrm>
            <a:off x="889635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agentic-fullstack-workbench</a:t>
            </a:r>
          </a:p>
        </p:txBody>
      </p:sp>
    </p:spTree>
    <p:extLst>
      <p:ext uri="{BB962C8B-B14F-4D97-AF65-F5344CB8AC3E}">
        <p14:creationId xmlns:p14="http://schemas.microsoft.com/office/powerpoint/2010/main" val="832918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EF23D4F-EEF2-4660-B58B-F20127D03FCB}"/>
              </a:ext>
            </a:extLst>
          </p:cNvPr>
          <p:cNvSpPr>
            <a:spLocks noGrp="1"/>
          </p:cNvSpPr>
          <p:nvPr/>
        </p:nvSpPr>
        <p:spPr>
          <a:xfrm>
            <a:off x="247650" y="2476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87BEEA3-8F5A-44DD-A8B5-05554EEF5549}"/>
              </a:ext>
            </a:extLst>
          </p:cNvPr>
          <p:cNvSpPr>
            <a:spLocks noGrp="1"/>
          </p:cNvSpPr>
          <p:nvPr/>
        </p:nvSpPr>
        <p:spPr>
          <a:xfrm>
            <a:off x="247650" y="29527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3559D180-B148-4101-A4A8-106582B3B861}"/>
              </a:ext>
            </a:extLst>
          </p:cNvPr>
          <p:cNvSpPr>
            <a:spLocks noGrp="1"/>
          </p:cNvSpPr>
          <p:nvPr/>
        </p:nvSpPr>
        <p:spPr>
          <a:xfrm>
            <a:off x="952500" y="266700"/>
            <a:ext cx="8667750" cy="476250"/>
          </a:xfrm>
          <a:prstGeom prst="roundRect">
            <a:avLst>
              <a:gd name="adj" fmla="val 1600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60DD34E-147F-4D6A-A1DC-1D0EB4E06D8E}"/>
              </a:ext>
            </a:extLst>
          </p:cNvPr>
          <p:cNvSpPr>
            <a:spLocks noGrp="1"/>
          </p:cNvSpPr>
          <p:nvPr/>
        </p:nvSpPr>
        <p:spPr>
          <a:xfrm>
            <a:off x="1143000" y="361950"/>
            <a:ext cx="828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WORKBENCH HAS FOUR LAYERS</a:t>
            </a:r>
          </a:p>
        </p:txBody>
      </p:sp>
      <p:pic>
        <p:nvPicPr>
          <p:cNvPr id="25" name="Grafik 24"/>
          <p:cNvPicPr>
            <a:picLocks noChangeAspect="1"/>
          </p:cNvPicPr>
          <p:nvPr/>
        </p:nvPicPr>
        <p:blipFill>
          <a:blip r:embed="rId3"/>
          <a:srcRect l="2725" r="2725"/>
          <a:stretch>
            <a:fillRect/>
          </a:stretch>
        </p:blipFill>
        <p:spPr>
          <a:xfrm>
            <a:off x="7334250" y="1219200"/>
            <a:ext cx="4000500" cy="2381250"/>
          </a:xfrm>
          <a:prstGeom prst="roundRect">
            <a:avLst>
              <a:gd name="adj" fmla="val 4800"/>
            </a:avLst>
          </a:prstGeom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A8077731-DFC4-477B-8AE5-23F66A82658E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2857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DE59833-1CB9-4C94-ADA4-D3C8FDE509F3}"/>
              </a:ext>
            </a:extLst>
          </p:cNvPr>
          <p:cNvSpPr>
            <a:spLocks noGrp="1"/>
          </p:cNvSpPr>
          <p:nvPr/>
        </p:nvSpPr>
        <p:spPr>
          <a:xfrm>
            <a:off x="1066800" y="15906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87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Agents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9FD52DD-2805-4FCB-9AAD-04DB022EA8F3}"/>
              </a:ext>
            </a:extLst>
          </p:cNvPr>
          <p:cNvSpPr>
            <a:spLocks noGrp="1"/>
          </p:cNvSpPr>
          <p:nvPr/>
        </p:nvSpPr>
        <p:spPr>
          <a:xfrm>
            <a:off x="1066800" y="2009775"/>
            <a:ext cx="2400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Roles and phases: Frontend Team, Backend, Analyzer, Implementer, Reviewer.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97893E59-E252-4AEC-8619-774B80A8FDC2}"/>
              </a:ext>
            </a:extLst>
          </p:cNvPr>
          <p:cNvSpPr>
            <a:spLocks noGrp="1"/>
          </p:cNvSpPr>
          <p:nvPr/>
        </p:nvSpPr>
        <p:spPr>
          <a:xfrm>
            <a:off x="4143375" y="1381125"/>
            <a:ext cx="2857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2CA2AAC-69BA-4E48-A838-477AD3D1894B}"/>
              </a:ext>
            </a:extLst>
          </p:cNvPr>
          <p:cNvSpPr>
            <a:spLocks noGrp="1"/>
          </p:cNvSpPr>
          <p:nvPr/>
        </p:nvSpPr>
        <p:spPr>
          <a:xfrm>
            <a:off x="4352925" y="15906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87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Skills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1FFA97B-BAB6-4CFA-A6FC-AA51ECA19F44}"/>
              </a:ext>
            </a:extLst>
          </p:cNvPr>
          <p:cNvSpPr>
            <a:spLocks noGrp="1"/>
          </p:cNvSpPr>
          <p:nvPr/>
        </p:nvSpPr>
        <p:spPr>
          <a:xfrm>
            <a:off x="4352925" y="2009775"/>
            <a:ext cx="2400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Specialized knowledge: React, Relay, HotChocolate, PowerBI, Playwright, Requirements.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BD00FF42-AE1B-47D2-899A-4F1A5F4F925C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2857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732AD03-240C-480E-9942-4CFBA98AF1C0}"/>
              </a:ext>
            </a:extLst>
          </p:cNvPr>
          <p:cNvSpPr>
            <a:spLocks noGrp="1"/>
          </p:cNvSpPr>
          <p:nvPr/>
        </p:nvSpPr>
        <p:spPr>
          <a:xfrm>
            <a:off x="1066800" y="35433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87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Instructions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CECC21F-C5FA-45D9-B798-FEABAC6F036A}"/>
              </a:ext>
            </a:extLst>
          </p:cNvPr>
          <p:cNvSpPr>
            <a:spLocks noGrp="1"/>
          </p:cNvSpPr>
          <p:nvPr/>
        </p:nvSpPr>
        <p:spPr>
          <a:xfrm>
            <a:off x="1066800" y="3962400"/>
            <a:ext cx="2400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Always-on rules: style, trust boundary, tests, and skill routing.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9A535EA3-C407-476B-B39C-97745AFE64C5}"/>
              </a:ext>
            </a:extLst>
          </p:cNvPr>
          <p:cNvSpPr>
            <a:spLocks noGrp="1"/>
          </p:cNvSpPr>
          <p:nvPr/>
        </p:nvSpPr>
        <p:spPr>
          <a:xfrm>
            <a:off x="4143375" y="3333750"/>
            <a:ext cx="2857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F639323-2903-4B01-8C89-D38C0BA6F43B}"/>
              </a:ext>
            </a:extLst>
          </p:cNvPr>
          <p:cNvSpPr>
            <a:spLocks noGrp="1"/>
          </p:cNvSpPr>
          <p:nvPr/>
        </p:nvSpPr>
        <p:spPr>
          <a:xfrm>
            <a:off x="4352925" y="35433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87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Prompts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1F6431B-B312-4ED8-9C66-A4100A36A0BE}"/>
              </a:ext>
            </a:extLst>
          </p:cNvPr>
          <p:cNvSpPr>
            <a:spLocks noGrp="1"/>
          </p:cNvSpPr>
          <p:nvPr/>
        </p:nvSpPr>
        <p:spPr>
          <a:xfrm>
            <a:off x="4352925" y="3962400"/>
            <a:ext cx="2400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Repeatable workflows: analyze bugs, create UI tests, curate context.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4E3C713E-CD9E-476A-BF10-654FB835B18A}"/>
              </a:ext>
            </a:extLst>
          </p:cNvPr>
          <p:cNvSpPr>
            <a:spLocks noGrp="1"/>
          </p:cNvSpPr>
          <p:nvPr/>
        </p:nvSpPr>
        <p:spPr>
          <a:xfrm>
            <a:off x="1066800" y="5429250"/>
            <a:ext cx="952500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E43F169-1ECC-4099-B23F-1F1A070E0501}"/>
              </a:ext>
            </a:extLst>
          </p:cNvPr>
          <p:cNvSpPr>
            <a:spLocks noGrp="1"/>
          </p:cNvSpPr>
          <p:nvPr/>
        </p:nvSpPr>
        <p:spPr>
          <a:xfrm>
            <a:off x="1352550" y="5581650"/>
            <a:ext cx="895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skill folders are intentionally domain-prefixed. Scannability beats naming perfection.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D4ECABD-3245-40D9-BDC1-F503B28F4BDA}"/>
              </a:ext>
            </a:extLst>
          </p:cNvPr>
          <p:cNvSpPr>
            <a:spLocks noGrp="1"/>
          </p:cNvSpPr>
          <p:nvPr/>
        </p:nvSpPr>
        <p:spPr>
          <a:xfrm>
            <a:off x="889635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agentic-fullstack-workbench</a:t>
            </a:r>
          </a:p>
        </p:txBody>
      </p:sp>
    </p:spTree>
    <p:extLst>
      <p:ext uri="{BB962C8B-B14F-4D97-AF65-F5344CB8AC3E}">
        <p14:creationId xmlns:p14="http://schemas.microsoft.com/office/powerpoint/2010/main" val="1632193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C8A85988-7BAA-4BC1-9CDC-7D48C8ED3555}"/>
              </a:ext>
            </a:extLst>
          </p:cNvPr>
          <p:cNvSpPr>
            <a:spLocks noGrp="1"/>
          </p:cNvSpPr>
          <p:nvPr/>
        </p:nvSpPr>
        <p:spPr>
          <a:xfrm>
            <a:off x="247650" y="2476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0458939-8DE7-424B-B4BB-444BC5ABE124}"/>
              </a:ext>
            </a:extLst>
          </p:cNvPr>
          <p:cNvSpPr>
            <a:spLocks noGrp="1"/>
          </p:cNvSpPr>
          <p:nvPr/>
        </p:nvSpPr>
        <p:spPr>
          <a:xfrm>
            <a:off x="247650" y="29527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BF32BF9C-7AED-46F6-A4B2-570A02F56339}"/>
              </a:ext>
            </a:extLst>
          </p:cNvPr>
          <p:cNvSpPr>
            <a:spLocks noGrp="1"/>
          </p:cNvSpPr>
          <p:nvPr/>
        </p:nvSpPr>
        <p:spPr>
          <a:xfrm>
            <a:off x="952500" y="266700"/>
            <a:ext cx="8667750" cy="476250"/>
          </a:xfrm>
          <a:prstGeom prst="roundRect">
            <a:avLst>
              <a:gd name="adj" fmla="val 1600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9248254-0478-4B44-861B-E392C422DD8E}"/>
              </a:ext>
            </a:extLst>
          </p:cNvPr>
          <p:cNvSpPr>
            <a:spLocks noGrp="1"/>
          </p:cNvSpPr>
          <p:nvPr/>
        </p:nvSpPr>
        <p:spPr>
          <a:xfrm>
            <a:off x="1143000" y="361950"/>
            <a:ext cx="828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HANDOFFS MAKE THE WORK MANAGEABLE</a:t>
            </a:r>
          </a:p>
        </p:txBody>
      </p:sp>
      <p:pic>
        <p:nvPicPr>
          <p:cNvPr id="29" name="Grafik 28"/>
          <p:cNvPicPr>
            <a:picLocks noChangeAspect="1"/>
          </p:cNvPicPr>
          <p:nvPr/>
        </p:nvPicPr>
        <p:blipFill>
          <a:blip r:embed="rId3"/>
          <a:srcRect l="7790" r="7790"/>
          <a:stretch>
            <a:fillRect/>
          </a:stretch>
        </p:blipFill>
        <p:spPr>
          <a:xfrm>
            <a:off x="7905750" y="1619250"/>
            <a:ext cx="3429000" cy="2286000"/>
          </a:xfrm>
          <a:prstGeom prst="roundRect">
            <a:avLst>
              <a:gd name="adj" fmla="val 5000"/>
            </a:avLst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538DD8A4-5DBA-48F1-A66C-4BE3D66436D6}"/>
              </a:ext>
            </a:extLst>
          </p:cNvPr>
          <p:cNvSpPr>
            <a:spLocks noGrp="1"/>
          </p:cNvSpPr>
          <p:nvPr/>
        </p:nvSpPr>
        <p:spPr>
          <a:xfrm>
            <a:off x="904875" y="11049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Instead of one big chat, work moves through clear specialist phases.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8B0E75B3-9B54-47ED-8E9A-CD7E3A86F31A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15240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80ADA59-A037-4A70-949C-3FAC42ED685D}"/>
              </a:ext>
            </a:extLst>
          </p:cNvPr>
          <p:cNvSpPr>
            <a:spLocks noGrp="1"/>
          </p:cNvSpPr>
          <p:nvPr/>
        </p:nvSpPr>
        <p:spPr>
          <a:xfrm>
            <a:off x="990600" y="2905125"/>
            <a:ext cx="1257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Analyze / Plan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480D8EC-0086-4A14-8B3F-8150EE9B6DF0}"/>
              </a:ext>
            </a:extLst>
          </p:cNvPr>
          <p:cNvSpPr>
            <a:spLocks noGrp="1"/>
          </p:cNvSpPr>
          <p:nvPr/>
        </p:nvSpPr>
        <p:spPr>
          <a:xfrm>
            <a:off x="990600" y="354330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strong model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463FFC8-1451-46BF-924B-B044E412256F}"/>
              </a:ext>
            </a:extLst>
          </p:cNvPr>
          <p:cNvSpPr>
            <a:spLocks noGrp="1"/>
          </p:cNvSpPr>
          <p:nvPr/>
        </p:nvSpPr>
        <p:spPr>
          <a:xfrm>
            <a:off x="2419350" y="3086100"/>
            <a:ext cx="38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700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BD06B9C1-DF7E-42F2-98FD-10EB309802B4}"/>
              </a:ext>
            </a:extLst>
          </p:cNvPr>
          <p:cNvSpPr>
            <a:spLocks noGrp="1"/>
          </p:cNvSpPr>
          <p:nvPr/>
        </p:nvSpPr>
        <p:spPr>
          <a:xfrm>
            <a:off x="2667000" y="2667000"/>
            <a:ext cx="15240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F5BAEB8-829E-4B79-9538-99785F8A90FE}"/>
              </a:ext>
            </a:extLst>
          </p:cNvPr>
          <p:cNvSpPr>
            <a:spLocks noGrp="1"/>
          </p:cNvSpPr>
          <p:nvPr/>
        </p:nvSpPr>
        <p:spPr>
          <a:xfrm>
            <a:off x="2800350" y="2905125"/>
            <a:ext cx="1257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Implement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E598CFE-E6DF-4743-9718-8393A9257A66}"/>
              </a:ext>
            </a:extLst>
          </p:cNvPr>
          <p:cNvSpPr>
            <a:spLocks noGrp="1"/>
          </p:cNvSpPr>
          <p:nvPr/>
        </p:nvSpPr>
        <p:spPr>
          <a:xfrm>
            <a:off x="2800350" y="354330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lower-cost workhorse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179FB44-7862-4025-BAB9-477C20B43895}"/>
              </a:ext>
            </a:extLst>
          </p:cNvPr>
          <p:cNvSpPr>
            <a:spLocks noGrp="1"/>
          </p:cNvSpPr>
          <p:nvPr/>
        </p:nvSpPr>
        <p:spPr>
          <a:xfrm>
            <a:off x="4229100" y="3086100"/>
            <a:ext cx="38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700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5B9B65FC-C9F3-4110-906A-9978606368FC}"/>
              </a:ext>
            </a:extLst>
          </p:cNvPr>
          <p:cNvSpPr>
            <a:spLocks noGrp="1"/>
          </p:cNvSpPr>
          <p:nvPr/>
        </p:nvSpPr>
        <p:spPr>
          <a:xfrm>
            <a:off x="4476750" y="2667000"/>
            <a:ext cx="15240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CD12A74-8670-45A5-9906-4DCB4AC2BCF3}"/>
              </a:ext>
            </a:extLst>
          </p:cNvPr>
          <p:cNvSpPr>
            <a:spLocks noGrp="1"/>
          </p:cNvSpPr>
          <p:nvPr/>
        </p:nvSpPr>
        <p:spPr>
          <a:xfrm>
            <a:off x="4610100" y="2905125"/>
            <a:ext cx="1257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45A97A70-E526-4877-8890-9ACC4E3E0DE4}"/>
              </a:ext>
            </a:extLst>
          </p:cNvPr>
          <p:cNvSpPr>
            <a:spLocks noGrp="1"/>
          </p:cNvSpPr>
          <p:nvPr/>
        </p:nvSpPr>
        <p:spPr>
          <a:xfrm>
            <a:off x="4610100" y="354330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independent view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FBC3785-6D21-4BB4-B2B2-E57AA3E91A5D}"/>
              </a:ext>
            </a:extLst>
          </p:cNvPr>
          <p:cNvSpPr>
            <a:spLocks noGrp="1"/>
          </p:cNvSpPr>
          <p:nvPr/>
        </p:nvSpPr>
        <p:spPr>
          <a:xfrm>
            <a:off x="6038850" y="3086100"/>
            <a:ext cx="38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700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5A7A68FB-507B-4268-BE55-608AE3BF5A30}"/>
              </a:ext>
            </a:extLst>
          </p:cNvPr>
          <p:cNvSpPr>
            <a:spLocks noGrp="1"/>
          </p:cNvSpPr>
          <p:nvPr/>
        </p:nvSpPr>
        <p:spPr>
          <a:xfrm>
            <a:off x="6286500" y="2667000"/>
            <a:ext cx="15240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8AC4B796-5BFB-40BB-982A-E077AF9629A5}"/>
              </a:ext>
            </a:extLst>
          </p:cNvPr>
          <p:cNvSpPr>
            <a:spLocks noGrp="1"/>
          </p:cNvSpPr>
          <p:nvPr/>
        </p:nvSpPr>
        <p:spPr>
          <a:xfrm>
            <a:off x="6419850" y="2905125"/>
            <a:ext cx="1257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91C042C-734D-4D7A-9FC2-F4D9FE992D0D}"/>
              </a:ext>
            </a:extLst>
          </p:cNvPr>
          <p:cNvSpPr>
            <a:spLocks noGrp="1"/>
          </p:cNvSpPr>
          <p:nvPr/>
        </p:nvSpPr>
        <p:spPr>
          <a:xfrm>
            <a:off x="6419850" y="354330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evidence over gut feel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425F50E4-71D3-4149-8FFE-DABB46AE1FC5}"/>
              </a:ext>
            </a:extLst>
          </p:cNvPr>
          <p:cNvSpPr>
            <a:spLocks noGrp="1"/>
          </p:cNvSpPr>
          <p:nvPr/>
        </p:nvSpPr>
        <p:spPr>
          <a:xfrm>
            <a:off x="1047750" y="4876800"/>
            <a:ext cx="857250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2410A56B-4C8C-4A11-9602-5139275356B6}"/>
              </a:ext>
            </a:extLst>
          </p:cNvPr>
          <p:cNvSpPr>
            <a:spLocks noGrp="1"/>
          </p:cNvSpPr>
          <p:nvPr/>
        </p:nvSpPr>
        <p:spPr>
          <a:xfrm>
            <a:off x="1333500" y="5067300"/>
            <a:ext cx="800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visible role stays simple. Hidden phase agents handle the specialist work.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933DD318-97CE-45D8-830F-438D5636FBA5}"/>
              </a:ext>
            </a:extLst>
          </p:cNvPr>
          <p:cNvSpPr>
            <a:spLocks noGrp="1"/>
          </p:cNvSpPr>
          <p:nvPr/>
        </p:nvSpPr>
        <p:spPr>
          <a:xfrm>
            <a:off x="889635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agentic-fullstack-workbench</a:t>
            </a:r>
          </a:p>
        </p:txBody>
      </p:sp>
    </p:spTree>
    <p:extLst>
      <p:ext uri="{BB962C8B-B14F-4D97-AF65-F5344CB8AC3E}">
        <p14:creationId xmlns:p14="http://schemas.microsoft.com/office/powerpoint/2010/main" val="204686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B70D51D7-45A6-4A94-97E3-AC86DA591FB5}"/>
              </a:ext>
            </a:extLst>
          </p:cNvPr>
          <p:cNvSpPr>
            <a:spLocks noGrp="1"/>
          </p:cNvSpPr>
          <p:nvPr/>
        </p:nvSpPr>
        <p:spPr>
          <a:xfrm>
            <a:off x="247650" y="2476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9C93D8C-3DCB-4716-89FF-1B7E2CA43AC2}"/>
              </a:ext>
            </a:extLst>
          </p:cNvPr>
          <p:cNvSpPr>
            <a:spLocks noGrp="1"/>
          </p:cNvSpPr>
          <p:nvPr/>
        </p:nvSpPr>
        <p:spPr>
          <a:xfrm>
            <a:off x="247650" y="29527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417588D4-8405-4EB7-8613-2A1A1BCD1656}"/>
              </a:ext>
            </a:extLst>
          </p:cNvPr>
          <p:cNvSpPr>
            <a:spLocks noGrp="1"/>
          </p:cNvSpPr>
          <p:nvPr/>
        </p:nvSpPr>
        <p:spPr>
          <a:xfrm>
            <a:off x="952500" y="266700"/>
            <a:ext cx="8667750" cy="476250"/>
          </a:xfrm>
          <a:prstGeom prst="roundRect">
            <a:avLst>
              <a:gd name="adj" fmla="val 1600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E9F2BEA-0B2A-4131-8A21-6BD9D3AAAC18}"/>
              </a:ext>
            </a:extLst>
          </p:cNvPr>
          <p:cNvSpPr>
            <a:spLocks noGrp="1"/>
          </p:cNvSpPr>
          <p:nvPr/>
        </p:nvSpPr>
        <p:spPr>
          <a:xfrm>
            <a:off x="1143000" y="361950"/>
            <a:ext cx="828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MODELS ACCORDING TO THE TASK</a:t>
            </a:r>
          </a:p>
        </p:txBody>
      </p:sp>
      <p:pic>
        <p:nvPicPr>
          <p:cNvPr id="30" name="Grafik 29"/>
          <p:cNvPicPr>
            <a:picLocks noChangeAspect="1"/>
          </p:cNvPicPr>
          <p:nvPr/>
        </p:nvPicPr>
        <p:blipFill>
          <a:blip r:embed="rId3"/>
          <a:srcRect l="6102" r="6102"/>
          <a:stretch>
            <a:fillRect/>
          </a:stretch>
        </p:blipFill>
        <p:spPr>
          <a:xfrm>
            <a:off x="7524750" y="1428750"/>
            <a:ext cx="3714750" cy="2381250"/>
          </a:xfrm>
          <a:prstGeom prst="roundRect">
            <a:avLst>
              <a:gd name="adj" fmla="val 4800"/>
            </a:avLst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7253FCD4-07EC-4407-AE0D-370FCE39E57B}"/>
              </a:ext>
            </a:extLst>
          </p:cNvPr>
          <p:cNvSpPr>
            <a:spLocks noGrp="1"/>
          </p:cNvSpPr>
          <p:nvPr/>
        </p:nvSpPr>
        <p:spPr>
          <a:xfrm>
            <a:off x="904875" y="1143000"/>
            <a:ext cx="647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Not every step needs the same model.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4D4B93E0-9DCF-4075-9684-2617BD92831C}"/>
              </a:ext>
            </a:extLst>
          </p:cNvPr>
          <p:cNvSpPr>
            <a:spLocks noGrp="1"/>
          </p:cNvSpPr>
          <p:nvPr/>
        </p:nvSpPr>
        <p:spPr>
          <a:xfrm>
            <a:off x="904875" y="2019300"/>
            <a:ext cx="6381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91886DB-93C3-4601-AAA9-C4034499657E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42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0641B50-4ADC-42B5-8025-46AF09BAC39F}"/>
              </a:ext>
            </a:extLst>
          </p:cNvPr>
          <p:cNvSpPr>
            <a:spLocks noGrp="1"/>
          </p:cNvSpPr>
          <p:nvPr/>
        </p:nvSpPr>
        <p:spPr>
          <a:xfrm>
            <a:off x="2781300" y="219075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Claude Opus / GPT-5.5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2CF7BD0-AB57-4539-846E-B41D47339189}"/>
              </a:ext>
            </a:extLst>
          </p:cNvPr>
          <p:cNvSpPr>
            <a:spLocks noGrp="1"/>
          </p:cNvSpPr>
          <p:nvPr/>
        </p:nvSpPr>
        <p:spPr>
          <a:xfrm>
            <a:off x="4953000" y="2200275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complex reasoning, ambiguity, architecture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406C18CD-2E52-45A8-B938-EDC09E856CE0}"/>
              </a:ext>
            </a:extLst>
          </p:cNvPr>
          <p:cNvSpPr>
            <a:spLocks noGrp="1"/>
          </p:cNvSpPr>
          <p:nvPr/>
        </p:nvSpPr>
        <p:spPr>
          <a:xfrm>
            <a:off x="904875" y="2800350"/>
            <a:ext cx="6381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3F57B4D-255C-4FDD-98E6-ABE4A1D4C1C5}"/>
              </a:ext>
            </a:extLst>
          </p:cNvPr>
          <p:cNvSpPr>
            <a:spLocks noGrp="1"/>
          </p:cNvSpPr>
          <p:nvPr/>
        </p:nvSpPr>
        <p:spPr>
          <a:xfrm>
            <a:off x="1143000" y="297180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42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1F9E03A-ED5D-4646-A9D3-8C1030F2F52E}"/>
              </a:ext>
            </a:extLst>
          </p:cNvPr>
          <p:cNvSpPr>
            <a:spLocks noGrp="1"/>
          </p:cNvSpPr>
          <p:nvPr/>
        </p:nvSpPr>
        <p:spPr>
          <a:xfrm>
            <a:off x="2781300" y="297180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GPT-5 mini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86FE186-8214-4621-B582-7EC715495C89}"/>
              </a:ext>
            </a:extLst>
          </p:cNvPr>
          <p:cNvSpPr>
            <a:spLocks noGrp="1"/>
          </p:cNvSpPr>
          <p:nvPr/>
        </p:nvSpPr>
        <p:spPr>
          <a:xfrm>
            <a:off x="4953000" y="2981325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fast, focused execution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C50F0C90-159C-4553-80D6-F84A4DC973F2}"/>
              </a:ext>
            </a:extLst>
          </p:cNvPr>
          <p:cNvSpPr>
            <a:spLocks noGrp="1"/>
          </p:cNvSpPr>
          <p:nvPr/>
        </p:nvSpPr>
        <p:spPr>
          <a:xfrm>
            <a:off x="904875" y="3581400"/>
            <a:ext cx="6381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ADCC7E0-D4DF-46DF-B127-40E19054CF19}"/>
              </a:ext>
            </a:extLst>
          </p:cNvPr>
          <p:cNvSpPr>
            <a:spLocks noGrp="1"/>
          </p:cNvSpPr>
          <p:nvPr/>
        </p:nvSpPr>
        <p:spPr>
          <a:xfrm>
            <a:off x="1143000" y="375285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42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C36DB1E-FC89-466E-ADE0-C3F25CA9FADA}"/>
              </a:ext>
            </a:extLst>
          </p:cNvPr>
          <p:cNvSpPr>
            <a:spLocks noGrp="1"/>
          </p:cNvSpPr>
          <p:nvPr/>
        </p:nvSpPr>
        <p:spPr>
          <a:xfrm>
            <a:off x="2781300" y="375285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Claude Sonnet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ED00EC1-0EAD-4C15-A3C4-7C40032FC5EB}"/>
              </a:ext>
            </a:extLst>
          </p:cNvPr>
          <p:cNvSpPr>
            <a:spLocks noGrp="1"/>
          </p:cNvSpPr>
          <p:nvPr/>
        </p:nvSpPr>
        <p:spPr>
          <a:xfrm>
            <a:off x="4953000" y="3762375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independent risk assessment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CA6F5D35-091B-4B85-9215-EF2329BAAFE0}"/>
              </a:ext>
            </a:extLst>
          </p:cNvPr>
          <p:cNvSpPr>
            <a:spLocks noGrp="1"/>
          </p:cNvSpPr>
          <p:nvPr/>
        </p:nvSpPr>
        <p:spPr>
          <a:xfrm>
            <a:off x="904875" y="4362450"/>
            <a:ext cx="6381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3C0C6CAE-3483-49CE-8F05-A4A9DA8E78F0}"/>
              </a:ext>
            </a:extLst>
          </p:cNvPr>
          <p:cNvSpPr>
            <a:spLocks noGrp="1"/>
          </p:cNvSpPr>
          <p:nvPr/>
        </p:nvSpPr>
        <p:spPr>
          <a:xfrm>
            <a:off x="1143000" y="453390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42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725BBC8-973F-4D16-9DE0-ECCB91AF945D}"/>
              </a:ext>
            </a:extLst>
          </p:cNvPr>
          <p:cNvSpPr>
            <a:spLocks noGrp="1"/>
          </p:cNvSpPr>
          <p:nvPr/>
        </p:nvSpPr>
        <p:spPr>
          <a:xfrm>
            <a:off x="2781300" y="453390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GPT-5 mini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AA46396-1AA2-4E2D-92DF-815425AF5B99}"/>
              </a:ext>
            </a:extLst>
          </p:cNvPr>
          <p:cNvSpPr>
            <a:spLocks noGrp="1"/>
          </p:cNvSpPr>
          <p:nvPr/>
        </p:nvSpPr>
        <p:spPr>
          <a:xfrm>
            <a:off x="4953000" y="4543425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checks, tests, browser evidence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0216443F-7013-4185-B277-A51DC8D93DA7}"/>
              </a:ext>
            </a:extLst>
          </p:cNvPr>
          <p:cNvSpPr>
            <a:spLocks noGrp="1"/>
          </p:cNvSpPr>
          <p:nvPr/>
        </p:nvSpPr>
        <p:spPr>
          <a:xfrm>
            <a:off x="7734300" y="4591050"/>
            <a:ext cx="333375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05788CBB-CFAB-4894-9812-5759E3CFDD98}"/>
              </a:ext>
            </a:extLst>
          </p:cNvPr>
          <p:cNvSpPr>
            <a:spLocks noGrp="1"/>
          </p:cNvSpPr>
          <p:nvPr/>
        </p:nvSpPr>
        <p:spPr>
          <a:xfrm>
            <a:off x="8020050" y="465629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Costs go down because strong models work where they actually add value.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ADF0A85-0A23-4F90-8EDD-C509C1874007}"/>
              </a:ext>
            </a:extLst>
          </p:cNvPr>
          <p:cNvSpPr>
            <a:spLocks noGrp="1"/>
          </p:cNvSpPr>
          <p:nvPr/>
        </p:nvSpPr>
        <p:spPr>
          <a:xfrm>
            <a:off x="889635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agentic-fullstack-workbench</a:t>
            </a:r>
          </a:p>
        </p:txBody>
      </p:sp>
    </p:spTree>
    <p:extLst>
      <p:ext uri="{BB962C8B-B14F-4D97-AF65-F5344CB8AC3E}">
        <p14:creationId xmlns:p14="http://schemas.microsoft.com/office/powerpoint/2010/main" val="1837297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12917C7A-0E27-4B32-A68D-71932AE4C2DF}"/>
              </a:ext>
            </a:extLst>
          </p:cNvPr>
          <p:cNvSpPr>
            <a:spLocks noGrp="1"/>
          </p:cNvSpPr>
          <p:nvPr/>
        </p:nvSpPr>
        <p:spPr>
          <a:xfrm>
            <a:off x="247650" y="2476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6E5DFBA-F0A4-40E3-A120-903704AB00CB}"/>
              </a:ext>
            </a:extLst>
          </p:cNvPr>
          <p:cNvSpPr>
            <a:spLocks noGrp="1"/>
          </p:cNvSpPr>
          <p:nvPr/>
        </p:nvSpPr>
        <p:spPr>
          <a:xfrm>
            <a:off x="247650" y="29527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EFAC530D-0D2C-4349-9A00-B00FE0EDC51D}"/>
              </a:ext>
            </a:extLst>
          </p:cNvPr>
          <p:cNvSpPr>
            <a:spLocks noGrp="1"/>
          </p:cNvSpPr>
          <p:nvPr/>
        </p:nvSpPr>
        <p:spPr>
          <a:xfrm>
            <a:off x="952500" y="266700"/>
            <a:ext cx="8667750" cy="476250"/>
          </a:xfrm>
          <a:prstGeom prst="roundRect">
            <a:avLst>
              <a:gd name="adj" fmla="val 1600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1BD5D41-8AA2-4788-A8C7-4145E5F40DE3}"/>
              </a:ext>
            </a:extLst>
          </p:cNvPr>
          <p:cNvSpPr>
            <a:spLocks noGrp="1"/>
          </p:cNvSpPr>
          <p:nvPr/>
        </p:nvSpPr>
        <p:spPr>
          <a:xfrm>
            <a:off x="1143000" y="361950"/>
            <a:ext cx="828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DAY-TO-DAY EXAMPLE</a:t>
            </a:r>
          </a:p>
        </p:txBody>
      </p:sp>
      <p:pic>
        <p:nvPicPr>
          <p:cNvPr id="26" name="Grafik 25"/>
          <p:cNvPicPr>
            <a:picLocks noChangeAspect="1"/>
          </p:cNvPicPr>
          <p:nvPr/>
        </p:nvPicPr>
        <p:blipFill>
          <a:blip r:embed="rId3"/>
          <a:srcRect l="10135" r="10135"/>
          <a:stretch>
            <a:fillRect/>
          </a:stretch>
        </p:blipFill>
        <p:spPr>
          <a:xfrm>
            <a:off x="523875" y="1409700"/>
            <a:ext cx="3238500" cy="2286000"/>
          </a:xfrm>
          <a:prstGeom prst="roundRect">
            <a:avLst>
              <a:gd name="adj" fmla="val 5000"/>
            </a:avLst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CAD397BB-82C2-4236-B876-EFBCBF84ABD9}"/>
              </a:ext>
            </a:extLst>
          </p:cNvPr>
          <p:cNvSpPr>
            <a:spLocks noGrp="1"/>
          </p:cNvSpPr>
          <p:nvPr/>
        </p:nvSpPr>
        <p:spPr>
          <a:xfrm>
            <a:off x="4095750" y="1123950"/>
            <a:ext cx="6572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fuzzy PBI becomes validated code.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D47C7AA-BF8D-4AE0-B06B-15D825D2EF82}"/>
              </a:ext>
            </a:extLst>
          </p:cNvPr>
          <p:cNvSpPr>
            <a:spLocks noGrp="1"/>
          </p:cNvSpPr>
          <p:nvPr/>
        </p:nvSpPr>
        <p:spPr>
          <a:xfrm>
            <a:off x="4095750" y="1885950"/>
            <a:ext cx="61912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9F2835B-9A69-4FA3-888B-489E5368ABE8}"/>
              </a:ext>
            </a:extLst>
          </p:cNvPr>
          <p:cNvSpPr>
            <a:spLocks noGrp="1"/>
          </p:cNvSpPr>
          <p:nvPr/>
        </p:nvSpPr>
        <p:spPr>
          <a:xfrm>
            <a:off x="4333875" y="2047875"/>
            <a:ext cx="2238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57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Requirements Engineer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AD9BDCF-C475-428A-8A73-F16BDEEFD918}"/>
              </a:ext>
            </a:extLst>
          </p:cNvPr>
          <p:cNvSpPr>
            <a:spLocks noGrp="1"/>
          </p:cNvSpPr>
          <p:nvPr/>
        </p:nvSpPr>
        <p:spPr>
          <a:xfrm>
            <a:off x="6667500" y="20574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Sharpen acceptance criteria and NFRs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83842D8B-D37F-463E-9A53-105F29A8A8AE}"/>
              </a:ext>
            </a:extLst>
          </p:cNvPr>
          <p:cNvSpPr>
            <a:spLocks noGrp="1"/>
          </p:cNvSpPr>
          <p:nvPr/>
        </p:nvSpPr>
        <p:spPr>
          <a:xfrm>
            <a:off x="4095750" y="2819400"/>
            <a:ext cx="61912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C411B25-408A-4577-89D1-FCFE2C1B636F}"/>
              </a:ext>
            </a:extLst>
          </p:cNvPr>
          <p:cNvSpPr>
            <a:spLocks noGrp="1"/>
          </p:cNvSpPr>
          <p:nvPr/>
        </p:nvSpPr>
        <p:spPr>
          <a:xfrm>
            <a:off x="4333875" y="2981325"/>
            <a:ext cx="2238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57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Frontend Team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BF30E88-12DB-4006-A42C-F77C50F8B2F2}"/>
              </a:ext>
            </a:extLst>
          </p:cNvPr>
          <p:cNvSpPr>
            <a:spLocks noGrp="1"/>
          </p:cNvSpPr>
          <p:nvPr/>
        </p:nvSpPr>
        <p:spPr>
          <a:xfrm>
            <a:off x="6667500" y="299085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 and implement the UI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76117D8E-161E-4C31-B00C-E5EF82B18A5C}"/>
              </a:ext>
            </a:extLst>
          </p:cNvPr>
          <p:cNvSpPr>
            <a:spLocks noGrp="1"/>
          </p:cNvSpPr>
          <p:nvPr/>
        </p:nvSpPr>
        <p:spPr>
          <a:xfrm>
            <a:off x="4095750" y="3752850"/>
            <a:ext cx="61912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B9DBFEC-7E05-47E2-A034-B0B2F7ED7874}"/>
              </a:ext>
            </a:extLst>
          </p:cNvPr>
          <p:cNvSpPr>
            <a:spLocks noGrp="1"/>
          </p:cNvSpPr>
          <p:nvPr/>
        </p:nvSpPr>
        <p:spPr>
          <a:xfrm>
            <a:off x="4333875" y="3914775"/>
            <a:ext cx="2238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57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50005C8-2477-4C41-B448-8D11C784EC48}"/>
              </a:ext>
            </a:extLst>
          </p:cNvPr>
          <p:cNvSpPr>
            <a:spLocks noGrp="1"/>
          </p:cNvSpPr>
          <p:nvPr/>
        </p:nvSpPr>
        <p:spPr>
          <a:xfrm>
            <a:off x="6667500" y="39243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Add API, resolver, or data access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564E2E98-A5CB-47DB-B7C3-4491F7629093}"/>
              </a:ext>
            </a:extLst>
          </p:cNvPr>
          <p:cNvSpPr>
            <a:spLocks noGrp="1"/>
          </p:cNvSpPr>
          <p:nvPr/>
        </p:nvSpPr>
        <p:spPr>
          <a:xfrm>
            <a:off x="4095750" y="4686300"/>
            <a:ext cx="61912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1BB7DC5-69C6-47AA-A17F-92F20287409C}"/>
              </a:ext>
            </a:extLst>
          </p:cNvPr>
          <p:cNvSpPr>
            <a:spLocks noGrp="1"/>
          </p:cNvSpPr>
          <p:nvPr/>
        </p:nvSpPr>
        <p:spPr>
          <a:xfrm>
            <a:off x="4333875" y="4848225"/>
            <a:ext cx="2238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57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Test Automation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1697F62-369C-4449-B9B1-9A382D60FDE3}"/>
              </a:ext>
            </a:extLst>
          </p:cNvPr>
          <p:cNvSpPr>
            <a:spLocks noGrp="1"/>
          </p:cNvSpPr>
          <p:nvPr/>
        </p:nvSpPr>
        <p:spPr>
          <a:xfrm>
            <a:off x="6667500" y="485775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Secure the flow with Playwright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C7F9E7DB-D106-4136-8213-29AA39CCB467}"/>
              </a:ext>
            </a:extLst>
          </p:cNvPr>
          <p:cNvSpPr>
            <a:spLocks noGrp="1"/>
          </p:cNvSpPr>
          <p:nvPr/>
        </p:nvSpPr>
        <p:spPr>
          <a:xfrm>
            <a:off x="1381125" y="5638800"/>
            <a:ext cx="809625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58C817D-B016-4C14-94BC-8981EA056398}"/>
              </a:ext>
            </a:extLst>
          </p:cNvPr>
          <p:cNvSpPr>
            <a:spLocks noGrp="1"/>
          </p:cNvSpPr>
          <p:nvPr/>
        </p:nvSpPr>
        <p:spPr>
          <a:xfrm>
            <a:off x="1666875" y="5800725"/>
            <a:ext cx="752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step uses the same workspace context, but a different role.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906352D-4D9F-49BE-9EF5-C37F33BA346F}"/>
              </a:ext>
            </a:extLst>
          </p:cNvPr>
          <p:cNvSpPr>
            <a:spLocks noGrp="1"/>
          </p:cNvSpPr>
          <p:nvPr/>
        </p:nvSpPr>
        <p:spPr>
          <a:xfrm>
            <a:off x="889635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agentic-fullstack-workbench</a:t>
            </a:r>
          </a:p>
        </p:txBody>
      </p:sp>
    </p:spTree>
    <p:extLst>
      <p:ext uri="{BB962C8B-B14F-4D97-AF65-F5344CB8AC3E}">
        <p14:creationId xmlns:p14="http://schemas.microsoft.com/office/powerpoint/2010/main" val="2026805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D06B9190-4BDF-4B7E-B74E-1AB4447D90A9}"/>
              </a:ext>
            </a:extLst>
          </p:cNvPr>
          <p:cNvSpPr>
            <a:spLocks noGrp="1"/>
          </p:cNvSpPr>
          <p:nvPr/>
        </p:nvSpPr>
        <p:spPr>
          <a:xfrm>
            <a:off x="247650" y="2476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1E3B78-A02D-462E-9E00-137338D3BFA3}"/>
              </a:ext>
            </a:extLst>
          </p:cNvPr>
          <p:cNvSpPr>
            <a:spLocks noGrp="1"/>
          </p:cNvSpPr>
          <p:nvPr/>
        </p:nvSpPr>
        <p:spPr>
          <a:xfrm>
            <a:off x="247650" y="29527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45C4249B-E566-434A-8EC7-62CC4EA8B649}"/>
              </a:ext>
            </a:extLst>
          </p:cNvPr>
          <p:cNvSpPr>
            <a:spLocks noGrp="1"/>
          </p:cNvSpPr>
          <p:nvPr/>
        </p:nvSpPr>
        <p:spPr>
          <a:xfrm>
            <a:off x="952500" y="266700"/>
            <a:ext cx="8667750" cy="476250"/>
          </a:xfrm>
          <a:prstGeom prst="roundRect">
            <a:avLst>
              <a:gd name="adj" fmla="val 1600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8FA8B8B-0E11-41CD-9EB4-90FBCE2037B7}"/>
              </a:ext>
            </a:extLst>
          </p:cNvPr>
          <p:cNvSpPr>
            <a:spLocks noGrp="1"/>
          </p:cNvSpPr>
          <p:nvPr/>
        </p:nvSpPr>
        <p:spPr>
          <a:xfrm>
            <a:off x="1143000" y="361950"/>
            <a:ext cx="828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PROJECT REMAINS THE SOURCE OF TRUTH</a:t>
            </a:r>
          </a:p>
        </p:txBody>
      </p:sp>
      <p:pic>
        <p:nvPicPr>
          <p:cNvPr id="30" name="Grafik 29"/>
          <p:cNvPicPr>
            <a:picLocks noChangeAspect="1"/>
          </p:cNvPicPr>
          <p:nvPr/>
        </p:nvPicPr>
        <p:blipFill>
          <a:blip r:embed="rId3"/>
          <a:srcRect l="7227" r="7227"/>
          <a:stretch>
            <a:fillRect/>
          </a:stretch>
        </p:blipFill>
        <p:spPr>
          <a:xfrm>
            <a:off x="7524750" y="1428750"/>
            <a:ext cx="3619500" cy="2381250"/>
          </a:xfrm>
          <a:prstGeom prst="roundRect">
            <a:avLst>
              <a:gd name="adj" fmla="val 4800"/>
            </a:avLst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68986AB1-BBEC-4A20-ADC5-32BD05EEE50E}"/>
              </a:ext>
            </a:extLst>
          </p:cNvPr>
          <p:cNvSpPr>
            <a:spLocks noGrp="1"/>
          </p:cNvSpPr>
          <p:nvPr/>
        </p:nvSpPr>
        <p:spPr>
          <a:xfrm>
            <a:off x="914400" y="1143000"/>
            <a:ext cx="6438378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workbench provides standards. The project decides the details.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3791C75E-2DC4-4AC9-8F2B-A6DC23257BEC}"/>
              </a:ext>
            </a:extLst>
          </p:cNvPr>
          <p:cNvSpPr>
            <a:spLocks noGrp="1"/>
          </p:cNvSpPr>
          <p:nvPr/>
        </p:nvSpPr>
        <p:spPr>
          <a:xfrm>
            <a:off x="1047750" y="2305050"/>
            <a:ext cx="5715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FAA834DA-6CFB-4DAC-AB1D-1C8380D686BE}"/>
              </a:ext>
            </a:extLst>
          </p:cNvPr>
          <p:cNvSpPr>
            <a:spLocks noGrp="1"/>
          </p:cNvSpPr>
          <p:nvPr/>
        </p:nvSpPr>
        <p:spPr>
          <a:xfrm>
            <a:off x="1219200" y="240982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16FA65A-725C-429A-B11C-831EB34C32A3}"/>
              </a:ext>
            </a:extLst>
          </p:cNvPr>
          <p:cNvSpPr>
            <a:spLocks noGrp="1"/>
          </p:cNvSpPr>
          <p:nvPr/>
        </p:nvSpPr>
        <p:spPr>
          <a:xfrm>
            <a:off x="1219200" y="24574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12AEA88-B041-48FA-8305-3F10385A9D92}"/>
              </a:ext>
            </a:extLst>
          </p:cNvPr>
          <p:cNvSpPr>
            <a:spLocks noGrp="1"/>
          </p:cNvSpPr>
          <p:nvPr/>
        </p:nvSpPr>
        <p:spPr>
          <a:xfrm>
            <a:off x="1695450" y="246697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Direct chat instruction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60B30C32-960B-42C0-ADA5-BD6520C5B9EE}"/>
              </a:ext>
            </a:extLst>
          </p:cNvPr>
          <p:cNvSpPr>
            <a:spLocks noGrp="1"/>
          </p:cNvSpPr>
          <p:nvPr/>
        </p:nvSpPr>
        <p:spPr>
          <a:xfrm>
            <a:off x="1047750" y="2990850"/>
            <a:ext cx="5715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3E8E96CF-8B8E-445D-B01E-5DEBADDAEC99}"/>
              </a:ext>
            </a:extLst>
          </p:cNvPr>
          <p:cNvSpPr>
            <a:spLocks noGrp="1"/>
          </p:cNvSpPr>
          <p:nvPr/>
        </p:nvSpPr>
        <p:spPr>
          <a:xfrm>
            <a:off x="1219200" y="309562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A5997D2-67B7-412A-9CEF-C9B579EAD7CF}"/>
              </a:ext>
            </a:extLst>
          </p:cNvPr>
          <p:cNvSpPr>
            <a:spLocks noGrp="1"/>
          </p:cNvSpPr>
          <p:nvPr/>
        </p:nvSpPr>
        <p:spPr>
          <a:xfrm>
            <a:off x="1219200" y="31432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3FE440D-6089-443B-9BE7-ACA7071E9096}"/>
              </a:ext>
            </a:extLst>
          </p:cNvPr>
          <p:cNvSpPr>
            <a:spLocks noGrp="1"/>
          </p:cNvSpPr>
          <p:nvPr/>
        </p:nvSpPr>
        <p:spPr>
          <a:xfrm>
            <a:off x="1695450" y="315277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files and project-specific .github rules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D1E15619-7C61-482B-A6C6-BB00169629E5}"/>
              </a:ext>
            </a:extLst>
          </p:cNvPr>
          <p:cNvSpPr>
            <a:spLocks noGrp="1"/>
          </p:cNvSpPr>
          <p:nvPr/>
        </p:nvSpPr>
        <p:spPr>
          <a:xfrm>
            <a:off x="1047750" y="3676650"/>
            <a:ext cx="5715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7AC81F89-64CC-4250-8CD8-30CF15EB9209}"/>
              </a:ext>
            </a:extLst>
          </p:cNvPr>
          <p:cNvSpPr>
            <a:spLocks noGrp="1"/>
          </p:cNvSpPr>
          <p:nvPr/>
        </p:nvSpPr>
        <p:spPr>
          <a:xfrm>
            <a:off x="1219200" y="378142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D7E78F1-F747-47FA-82E2-2E45798005BC}"/>
              </a:ext>
            </a:extLst>
          </p:cNvPr>
          <p:cNvSpPr>
            <a:spLocks noGrp="1"/>
          </p:cNvSpPr>
          <p:nvPr/>
        </p:nvSpPr>
        <p:spPr>
          <a:xfrm>
            <a:off x="1219200" y="38290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983B4D5-120E-4194-A527-9D77126DB45D}"/>
              </a:ext>
            </a:extLst>
          </p:cNvPr>
          <p:cNvSpPr>
            <a:spLocks noGrp="1"/>
          </p:cNvSpPr>
          <p:nvPr/>
        </p:nvSpPr>
        <p:spPr>
          <a:xfrm>
            <a:off x="1695450" y="383857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Workbench agents, skills, instructions, and prompts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7A9BE980-AA1E-4AF5-ABEE-5F6AB69C22C8}"/>
              </a:ext>
            </a:extLst>
          </p:cNvPr>
          <p:cNvSpPr>
            <a:spLocks noGrp="1"/>
          </p:cNvSpPr>
          <p:nvPr/>
        </p:nvSpPr>
        <p:spPr>
          <a:xfrm>
            <a:off x="1047750" y="4362450"/>
            <a:ext cx="5715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40163B2C-69AC-4531-802C-EB748DF1AD5C}"/>
              </a:ext>
            </a:extLst>
          </p:cNvPr>
          <p:cNvSpPr>
            <a:spLocks noGrp="1"/>
          </p:cNvSpPr>
          <p:nvPr/>
        </p:nvSpPr>
        <p:spPr>
          <a:xfrm>
            <a:off x="1219200" y="446722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F9154E3-B169-44C5-8BC7-74A18BEBEB69}"/>
              </a:ext>
            </a:extLst>
          </p:cNvPr>
          <p:cNvSpPr>
            <a:spLocks noGrp="1"/>
          </p:cNvSpPr>
          <p:nvPr/>
        </p:nvSpPr>
        <p:spPr>
          <a:xfrm>
            <a:off x="1219200" y="4514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AA50102-B747-4529-A236-EC62A205FF10}"/>
              </a:ext>
            </a:extLst>
          </p:cNvPr>
          <p:cNvSpPr>
            <a:spLocks noGrp="1"/>
          </p:cNvSpPr>
          <p:nvPr/>
        </p:nvSpPr>
        <p:spPr>
          <a:xfrm>
            <a:off x="1695450" y="452437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External docs and MCP results as sources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A11350A4-02E3-404F-BFCB-60F069EE6E57}"/>
              </a:ext>
            </a:extLst>
          </p:cNvPr>
          <p:cNvSpPr>
            <a:spLocks noGrp="1"/>
          </p:cNvSpPr>
          <p:nvPr/>
        </p:nvSpPr>
        <p:spPr>
          <a:xfrm>
            <a:off x="7553325" y="4429125"/>
            <a:ext cx="34290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7BEFDFA-1EB6-4A0F-A2E0-7C8C14344FC3}"/>
              </a:ext>
            </a:extLst>
          </p:cNvPr>
          <p:cNvSpPr>
            <a:spLocks noGrp="1"/>
          </p:cNvSpPr>
          <p:nvPr/>
        </p:nvSpPr>
        <p:spPr>
          <a:xfrm>
            <a:off x="7867650" y="4509892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Trust boundary: sources provide data. Rules come from user, project, and workbench.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354827E-B959-4F3D-AB89-C4577D5BB4BA}"/>
              </a:ext>
            </a:extLst>
          </p:cNvPr>
          <p:cNvSpPr>
            <a:spLocks noGrp="1"/>
          </p:cNvSpPr>
          <p:nvPr/>
        </p:nvSpPr>
        <p:spPr>
          <a:xfrm>
            <a:off x="889635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agentic-fullstack-workbench</a:t>
            </a:r>
          </a:p>
        </p:txBody>
      </p:sp>
    </p:spTree>
    <p:extLst>
      <p:ext uri="{BB962C8B-B14F-4D97-AF65-F5344CB8AC3E}">
        <p14:creationId xmlns:p14="http://schemas.microsoft.com/office/powerpoint/2010/main" val="160409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CC92077-01AB-4E42-B875-75FC1B7B19F5}"/>
              </a:ext>
            </a:extLst>
          </p:cNvPr>
          <p:cNvSpPr>
            <a:spLocks noGrp="1"/>
          </p:cNvSpPr>
          <p:nvPr/>
        </p:nvSpPr>
        <p:spPr>
          <a:xfrm>
            <a:off x="247650" y="2476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E1004F1-5C9A-4A00-BEA2-33787E8B1C7C}"/>
              </a:ext>
            </a:extLst>
          </p:cNvPr>
          <p:cNvSpPr>
            <a:spLocks noGrp="1"/>
          </p:cNvSpPr>
          <p:nvPr/>
        </p:nvSpPr>
        <p:spPr>
          <a:xfrm>
            <a:off x="247650" y="29527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F35F7CFA-A030-40B3-A9E8-A8CF9C5F4276}"/>
              </a:ext>
            </a:extLst>
          </p:cNvPr>
          <p:cNvSpPr>
            <a:spLocks noGrp="1"/>
          </p:cNvSpPr>
          <p:nvPr/>
        </p:nvSpPr>
        <p:spPr>
          <a:xfrm>
            <a:off x="952500" y="266700"/>
            <a:ext cx="8667750" cy="476250"/>
          </a:xfrm>
          <a:prstGeom prst="roundRect">
            <a:avLst>
              <a:gd name="adj" fmla="val 16000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4739314-3786-4443-AAEB-F58573D1F041}"/>
              </a:ext>
            </a:extLst>
          </p:cNvPr>
          <p:cNvSpPr>
            <a:spLocks noGrp="1"/>
          </p:cNvSpPr>
          <p:nvPr/>
        </p:nvSpPr>
        <p:spPr>
          <a:xfrm>
            <a:off x="1143000" y="361950"/>
            <a:ext cx="828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INTRODUCE IT WITHOUT A BIG BANG</a:t>
            </a:r>
          </a:p>
        </p:txBody>
      </p:sp>
      <p:pic>
        <p:nvPicPr>
          <p:cNvPr id="26" name="Grafik 25"/>
          <p:cNvPicPr>
            <a:picLocks noChangeAspect="1"/>
          </p:cNvPicPr>
          <p:nvPr/>
        </p:nvPicPr>
        <p:blipFill>
          <a:blip r:embed="rId3"/>
          <a:srcRect l="7227" r="7227"/>
          <a:stretch>
            <a:fillRect/>
          </a:stretch>
        </p:blipFill>
        <p:spPr>
          <a:xfrm>
            <a:off x="7572375" y="1504950"/>
            <a:ext cx="3619500" cy="2381250"/>
          </a:xfrm>
          <a:prstGeom prst="roundRect">
            <a:avLst>
              <a:gd name="adj" fmla="val 4800"/>
            </a:avLst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98304FBD-1C0B-4E2F-B7F7-63B924083F84}"/>
              </a:ext>
            </a:extLst>
          </p:cNvPr>
          <p:cNvSpPr>
            <a:spLocks noGrp="1"/>
          </p:cNvSpPr>
          <p:nvPr/>
        </p:nvSpPr>
        <p:spPr>
          <a:xfrm>
            <a:off x="876300" y="1123950"/>
            <a:ext cx="723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 with a small pilot, not a process program.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A59B27DC-AC39-40C5-A883-FE80BC72D7F1}"/>
              </a:ext>
            </a:extLst>
          </p:cNvPr>
          <p:cNvSpPr>
            <a:spLocks noGrp="1"/>
          </p:cNvSpPr>
          <p:nvPr/>
        </p:nvSpPr>
        <p:spPr>
          <a:xfrm>
            <a:off x="904875" y="2286000"/>
            <a:ext cx="3143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9F0F81D-FF3D-448F-9831-DE2666A2058E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261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72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Choose a pilot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1454658-9490-47A4-A84D-FF819EE791BC}"/>
              </a:ext>
            </a:extLst>
          </p:cNvPr>
          <p:cNvSpPr>
            <a:spLocks noGrp="1"/>
          </p:cNvSpPr>
          <p:nvPr/>
        </p:nvSpPr>
        <p:spPr>
          <a:xfrm>
            <a:off x="1133475" y="28575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fullstack team and one real ticket.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B3FC8FE5-F030-41E1-8148-BE70CB83B77A}"/>
              </a:ext>
            </a:extLst>
          </p:cNvPr>
          <p:cNvSpPr>
            <a:spLocks noGrp="1"/>
          </p:cNvSpPr>
          <p:nvPr/>
        </p:nvSpPr>
        <p:spPr>
          <a:xfrm>
            <a:off x="904875" y="3857625"/>
            <a:ext cx="3143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C22CD79-59BF-4799-9C74-44F991E84365}"/>
              </a:ext>
            </a:extLst>
          </p:cNvPr>
          <p:cNvSpPr>
            <a:spLocks noGrp="1"/>
          </p:cNvSpPr>
          <p:nvPr/>
        </p:nvSpPr>
        <p:spPr>
          <a:xfrm>
            <a:off x="1133475" y="4067175"/>
            <a:ext cx="261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72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Prepare workspace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0F5A105-BD30-4578-B4E6-39BAEA3A4CA0}"/>
              </a:ext>
            </a:extLst>
          </p:cNvPr>
          <p:cNvSpPr>
            <a:spLocks noGrp="1"/>
          </p:cNvSpPr>
          <p:nvPr/>
        </p:nvSpPr>
        <p:spPr>
          <a:xfrm>
            <a:off x="1133475" y="4429125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Clone workbench, add project, check MCP.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A6ACBF3E-E8B5-4C49-BFAA-16D05F178580}"/>
              </a:ext>
            </a:extLst>
          </p:cNvPr>
          <p:cNvSpPr>
            <a:spLocks noGrp="1"/>
          </p:cNvSpPr>
          <p:nvPr/>
        </p:nvSpPr>
        <p:spPr>
          <a:xfrm>
            <a:off x="4476750" y="2286000"/>
            <a:ext cx="3143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EB48F82-959E-42C2-8AC7-4701F97265CC}"/>
              </a:ext>
            </a:extLst>
          </p:cNvPr>
          <p:cNvSpPr>
            <a:spLocks noGrp="1"/>
          </p:cNvSpPr>
          <p:nvPr/>
        </p:nvSpPr>
        <p:spPr>
          <a:xfrm>
            <a:off x="4705350" y="2495550"/>
            <a:ext cx="261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72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Run the demo flow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F327B1C-DD71-4AC7-BDB6-E86E3E86CDCC}"/>
              </a:ext>
            </a:extLst>
          </p:cNvPr>
          <p:cNvSpPr>
            <a:spLocks noGrp="1"/>
          </p:cNvSpPr>
          <p:nvPr/>
        </p:nvSpPr>
        <p:spPr>
          <a:xfrm>
            <a:off x="4705350" y="28575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Walk through Analyze, Implement, Review, Validate once.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EBCC190E-0CCF-49F2-AF91-FC4113EE7C82}"/>
              </a:ext>
            </a:extLst>
          </p:cNvPr>
          <p:cNvSpPr>
            <a:spLocks noGrp="1"/>
          </p:cNvSpPr>
          <p:nvPr/>
        </p:nvSpPr>
        <p:spPr>
          <a:xfrm>
            <a:off x="4476750" y="3857625"/>
            <a:ext cx="3143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7F57CEF-3D45-48BB-9596-0913DC90AC0C}"/>
              </a:ext>
            </a:extLst>
          </p:cNvPr>
          <p:cNvSpPr>
            <a:spLocks noGrp="1"/>
          </p:cNvSpPr>
          <p:nvPr/>
        </p:nvSpPr>
        <p:spPr>
          <a:xfrm>
            <a:off x="4705350" y="4067175"/>
            <a:ext cx="261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72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Curate signals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C31ACFC-57E3-4BD1-8CF5-0A0148B47AA8}"/>
              </a:ext>
            </a:extLst>
          </p:cNvPr>
          <p:cNvSpPr>
            <a:spLocks noGrp="1"/>
          </p:cNvSpPr>
          <p:nvPr/>
        </p:nvSpPr>
        <p:spPr>
          <a:xfrm>
            <a:off x="4705350" y="4429125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Stabilize what helped in skills or instructions.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93A23994-FA3F-4EDE-BE3F-35B08AC884F9}"/>
              </a:ext>
            </a:extLst>
          </p:cNvPr>
          <p:cNvSpPr>
            <a:spLocks noGrp="1"/>
          </p:cNvSpPr>
          <p:nvPr/>
        </p:nvSpPr>
        <p:spPr>
          <a:xfrm>
            <a:off x="7553325" y="4762500"/>
            <a:ext cx="35242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49C0B13-E2A6-49B1-95D0-5FC0F515271F}"/>
              </a:ext>
            </a:extLst>
          </p:cNvPr>
          <p:cNvSpPr>
            <a:spLocks noGrp="1"/>
          </p:cNvSpPr>
          <p:nvPr/>
        </p:nvSpPr>
        <p:spPr>
          <a:xfrm>
            <a:off x="7829550" y="4865057"/>
            <a:ext cx="2971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Success means less repetition and better review quality.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5417C68-F2E2-4DD8-872D-B453E5426287}"/>
              </a:ext>
            </a:extLst>
          </p:cNvPr>
          <p:cNvSpPr>
            <a:spLocks noGrp="1"/>
          </p:cNvSpPr>
          <p:nvPr/>
        </p:nvSpPr>
        <p:spPr>
          <a:xfrm>
            <a:off x="889635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agentic-fullstack-workbench</a:t>
            </a:r>
          </a:p>
        </p:txBody>
      </p:sp>
    </p:spTree>
    <p:extLst>
      <p:ext uri="{BB962C8B-B14F-4D97-AF65-F5344CB8AC3E}">
        <p14:creationId xmlns:p14="http://schemas.microsoft.com/office/powerpoint/2010/main" val="149479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334060B6-8FAA-4CC4-9B25-4542DAAEA9B0}"/>
              </a:ext>
            </a:extLst>
          </p:cNvPr>
          <p:cNvSpPr>
            <a:spLocks noGrp="1"/>
          </p:cNvSpPr>
          <p:nvPr/>
        </p:nvSpPr>
        <p:spPr>
          <a:xfrm>
            <a:off x="247650" y="2476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77039C6-53DE-44F0-90CE-86D9A156D25D}"/>
              </a:ext>
            </a:extLst>
          </p:cNvPr>
          <p:cNvSpPr>
            <a:spLocks noGrp="1"/>
          </p:cNvSpPr>
          <p:nvPr/>
        </p:nvSpPr>
        <p:spPr>
          <a:xfrm>
            <a:off x="247650" y="29527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165E701-312D-4EF2-BBBD-EBFB93455D9F}"/>
              </a:ext>
            </a:extLst>
          </p:cNvPr>
          <p:cNvSpPr>
            <a:spLocks noGrp="1"/>
          </p:cNvSpPr>
          <p:nvPr/>
        </p:nvSpPr>
        <p:spPr>
          <a:xfrm>
            <a:off x="904875" y="857250"/>
            <a:ext cx="5877969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goal: less prompt guesswork,</a:t>
            </a:r>
            <a:r>
              <a:rPr lang="de-CH" sz="2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more engineering</a:t>
            </a:r>
          </a:p>
        </p:txBody>
      </p:sp>
      <p:pic>
        <p:nvPicPr>
          <p:cNvPr id="20" name="Grafik 19"/>
          <p:cNvPicPr>
            <a:picLocks noChangeAspect="1"/>
          </p:cNvPicPr>
          <p:nvPr/>
        </p:nvPicPr>
        <p:blipFill>
          <a:blip r:embed="rId3"/>
          <a:srcRect l="9246" r="9246"/>
          <a:stretch>
            <a:fillRect/>
          </a:stretch>
        </p:blipFill>
        <p:spPr>
          <a:xfrm>
            <a:off x="7143750" y="1066800"/>
            <a:ext cx="4000500" cy="2762250"/>
          </a:xfrm>
          <a:prstGeom prst="roundRect">
            <a:avLst>
              <a:gd name="adj" fmla="val 4138"/>
            </a:avLst>
          </a:prstGeom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EFCD9C1A-457A-4702-B36E-4ED48BC198BB}"/>
              </a:ext>
            </a:extLst>
          </p:cNvPr>
          <p:cNvSpPr>
            <a:spLocks noGrp="1"/>
          </p:cNvSpPr>
          <p:nvPr/>
        </p:nvSpPr>
        <p:spPr>
          <a:xfrm>
            <a:off x="1000125" y="2476500"/>
            <a:ext cx="5334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6EF8AF2-6B7B-4B7D-9B75-DF20C9128ACB}"/>
              </a:ext>
            </a:extLst>
          </p:cNvPr>
          <p:cNvSpPr>
            <a:spLocks noGrp="1"/>
          </p:cNvSpPr>
          <p:nvPr/>
        </p:nvSpPr>
        <p:spPr>
          <a:xfrm>
            <a:off x="1257300" y="26289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650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One workspace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150C80D-4DD2-4F32-B33B-4E962967E4A3}"/>
              </a:ext>
            </a:extLst>
          </p:cNvPr>
          <p:cNvSpPr>
            <a:spLocks noGrp="1"/>
          </p:cNvSpPr>
          <p:nvPr/>
        </p:nvSpPr>
        <p:spPr>
          <a:xfrm>
            <a:off x="3143250" y="2647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Workbench + project in the same VS Code window.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1B4C6161-77D1-4AF7-823D-1D635C148071}"/>
              </a:ext>
            </a:extLst>
          </p:cNvPr>
          <p:cNvSpPr>
            <a:spLocks noGrp="1"/>
          </p:cNvSpPr>
          <p:nvPr/>
        </p:nvSpPr>
        <p:spPr>
          <a:xfrm>
            <a:off x="1000125" y="3409950"/>
            <a:ext cx="5334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8448F4D-4504-4334-B3DD-73FF1553B3F8}"/>
              </a:ext>
            </a:extLst>
          </p:cNvPr>
          <p:cNvSpPr>
            <a:spLocks noGrp="1"/>
          </p:cNvSpPr>
          <p:nvPr/>
        </p:nvSpPr>
        <p:spPr>
          <a:xfrm>
            <a:off x="1257300" y="35623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650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Clear roles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9C61F71-D831-4324-AA6B-BAD60C39E8D5}"/>
              </a:ext>
            </a:extLst>
          </p:cNvPr>
          <p:cNvSpPr>
            <a:spLocks noGrp="1"/>
          </p:cNvSpPr>
          <p:nvPr/>
        </p:nvSpPr>
        <p:spPr>
          <a:xfrm>
            <a:off x="3143250" y="35814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Frontend, backend, requirements, tests, and data.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DEF4BB1B-0C64-48CF-834F-5E89464F52AD}"/>
              </a:ext>
            </a:extLst>
          </p:cNvPr>
          <p:cNvSpPr>
            <a:spLocks noGrp="1"/>
          </p:cNvSpPr>
          <p:nvPr/>
        </p:nvSpPr>
        <p:spPr>
          <a:xfrm>
            <a:off x="1000125" y="4343400"/>
            <a:ext cx="5334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333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F37F927-347E-4910-8DBA-9C33FCF36AF0}"/>
              </a:ext>
            </a:extLst>
          </p:cNvPr>
          <p:cNvSpPr>
            <a:spLocks noGrp="1"/>
          </p:cNvSpPr>
          <p:nvPr/>
        </p:nvSpPr>
        <p:spPr>
          <a:xfrm>
            <a:off x="1257300" y="44958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650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Guided handoffs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12552C2-F98E-403B-9130-B765E6A40E87}"/>
              </a:ext>
            </a:extLst>
          </p:cNvPr>
          <p:cNvSpPr>
            <a:spLocks noGrp="1"/>
          </p:cNvSpPr>
          <p:nvPr/>
        </p:nvSpPr>
        <p:spPr>
          <a:xfrm>
            <a:off x="3143250" y="4514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Analysis, implementation, review, and validation.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F4AFCE50-87AD-41C1-8B04-1DED002B4B21}"/>
              </a:ext>
            </a:extLst>
          </p:cNvPr>
          <p:cNvSpPr>
            <a:spLocks noGrp="1"/>
          </p:cNvSpPr>
          <p:nvPr/>
        </p:nvSpPr>
        <p:spPr>
          <a:xfrm>
            <a:off x="1809750" y="5734050"/>
            <a:ext cx="7239000" cy="666750"/>
          </a:xfrm>
          <a:prstGeom prst="roundRect">
            <a:avLst>
              <a:gd name="adj" fmla="val 17143"/>
            </a:avLst>
          </a:prstGeom>
          <a:solidFill>
            <a:srgbClr val="E30613"/>
          </a:solidFill>
          <a:ln w="13335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8889FC-6B71-4C80-B878-DE18FDBC0A81}"/>
              </a:ext>
            </a:extLst>
          </p:cNvPr>
          <p:cNvSpPr>
            <a:spLocks noGrp="1"/>
          </p:cNvSpPr>
          <p:nvPr/>
        </p:nvSpPr>
        <p:spPr>
          <a:xfrm>
            <a:off x="2095500" y="5876925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step: open a pilot workspace</a:t>
            </a:r>
          </a:p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run a real ticket through it.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578548-8FB1-49D8-9592-044D6F2F7A71}"/>
              </a:ext>
            </a:extLst>
          </p:cNvPr>
          <p:cNvSpPr>
            <a:spLocks noGrp="1"/>
          </p:cNvSpPr>
          <p:nvPr/>
        </p:nvSpPr>
        <p:spPr>
          <a:xfrm>
            <a:off x="889635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agentic-fullstack-workbench</a:t>
            </a:r>
          </a:p>
        </p:txBody>
      </p:sp>
    </p:spTree>
    <p:extLst>
      <p:ext uri="{BB962C8B-B14F-4D97-AF65-F5344CB8AC3E}">
        <p14:creationId xmlns:p14="http://schemas.microsoft.com/office/powerpoint/2010/main" val="7799294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1250</Words>
  <Application>Microsoft Office PowerPoint</Application>
  <DocSecurity>0</DocSecurity>
  <PresentationFormat>Breitbild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5" baseType="lpstr">
      <vt:lpstr>Arial</vt:lpstr>
      <vt:lpstr>Calibri</vt:lpstr>
      <vt:lpstr>ChatGPT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Andreas Karz</cp:lastModifiedBy>
  <cp:revision>1</cp:revision>
  <dcterms:created xsi:type="dcterms:W3CDTF">2026-07-06T17:30:24Z</dcterms:created>
  <dcterms:modified xsi:type="dcterms:W3CDTF">2026-07-06T17:45:38Z</dcterms:modified>
</cp:coreProperties>
</file>